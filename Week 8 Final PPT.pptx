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libri (MS)" charset="1" panose="020F0502020204030204"/>
      <p:regular r:id="rId22"/>
    </p:embeddedFont>
    <p:embeddedFont>
      <p:font typeface="Arial Bold" charset="1" panose="020B0704020202020204"/>
      <p:regular r:id="rId23"/>
    </p:embeddedFont>
    <p:embeddedFont>
      <p:font typeface="Calibri (MS) Bold" charset="1" panose="020F0702030404030204"/>
      <p:regular r:id="rId26"/>
    </p:embeddedFont>
    <p:embeddedFont>
      <p:font typeface="Calibri (MS) Bold Italics" charset="1" panose="020F07020304040A0204"/>
      <p:regular r:id="rId27"/>
    </p:embeddedFont>
    <p:embeddedFont>
      <p:font typeface="DM Sans" charset="1" panose="00000000000000000000"/>
      <p:regular r:id="rId28"/>
    </p:embeddedFont>
    <p:embeddedFont>
      <p:font typeface="Calibri (MS) Italics" charset="1" panose="020F05020202040A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fonts/font33.fntdata" Type="http://schemas.openxmlformats.org/officeDocument/2006/relationships/font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18820" y="-4114800"/>
            <a:ext cx="7680960" cy="7680960"/>
            <a:chOff x="0" y="0"/>
            <a:chExt cx="10241280" cy="1024128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10241280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0"/>
                  </a:lnTo>
                  <a:lnTo>
                    <a:pt x="0" y="10241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90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0" y="7593330"/>
            <a:ext cx="5486400" cy="5486400"/>
            <a:chOff x="0" y="0"/>
            <a:chExt cx="7315200" cy="731520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0"/>
                  </a:lnTo>
                  <a:lnTo>
                    <a:pt x="0" y="731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80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365760"/>
            <a:ext cx="7315200" cy="457200"/>
            <a:chOff x="0" y="0"/>
            <a:chExt cx="9753600" cy="609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200: Applied Statistical Analysis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58400" y="365760"/>
            <a:ext cx="7315200" cy="457200"/>
            <a:chOff x="0" y="0"/>
            <a:chExt cx="975360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April 2026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1828800"/>
            <a:ext cx="16459200" cy="1554480"/>
            <a:chOff x="0" y="0"/>
            <a:chExt cx="21945600" cy="2072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6312" r="0" b="-15631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194560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2D2D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Global Crude Oil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3566160"/>
            <a:ext cx="16459200" cy="1554480"/>
            <a:chOff x="0" y="0"/>
            <a:chExt cx="21945600" cy="2072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6312" r="0" b="-15631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194560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2D2D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Price Volatility Analysis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5303520"/>
            <a:ext cx="16459200" cy="1280160"/>
            <a:chOff x="0" y="0"/>
            <a:chExt cx="21945600" cy="17068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42875"/>
              <a:ext cx="21945600" cy="18497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1970 – 2026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" y="9692640"/>
            <a:ext cx="7315200" cy="457200"/>
            <a:chOff x="0" y="0"/>
            <a:chExt cx="9753600" cy="609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Presented By: Week 8 Final Submission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58798" y="9692640"/>
            <a:ext cx="7315200" cy="457200"/>
            <a:chOff x="0" y="0"/>
            <a:chExt cx="9753600" cy="609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Course Project | April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6000" y="914400"/>
            <a:ext cx="5852160" cy="5852160"/>
            <a:chOff x="0" y="0"/>
            <a:chExt cx="7802880" cy="780288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7802880" cy="7802880"/>
            </a:xfrm>
            <a:custGeom>
              <a:avLst/>
              <a:gdLst/>
              <a:ahLst/>
              <a:cxnLst/>
              <a:rect r="r" b="b" t="t" l="l"/>
              <a:pathLst>
                <a:path h="7802880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7802880"/>
                  </a:lnTo>
                  <a:lnTo>
                    <a:pt x="0" y="7802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85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65760"/>
            <a:ext cx="7315200" cy="457200"/>
            <a:chOff x="0" y="0"/>
            <a:chExt cx="97536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200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0" y="365760"/>
            <a:ext cx="7315200" cy="457200"/>
            <a:chOff x="0" y="0"/>
            <a:chExt cx="9753600" cy="609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 8 Final Report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1005840"/>
            <a:ext cx="12801600" cy="1645920"/>
            <a:chOff x="0" y="0"/>
            <a:chExt cx="17068800" cy="21945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06880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2D2D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Table of Contents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1703" y="3004823"/>
            <a:ext cx="7706363" cy="976379"/>
            <a:chOff x="0" y="0"/>
            <a:chExt cx="10275151" cy="13018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10241281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241281">
                  <a:moveTo>
                    <a:pt x="0" y="633984"/>
                  </a:moveTo>
                  <a:cubicBezTo>
                    <a:pt x="0" y="283845"/>
                    <a:pt x="290449" y="0"/>
                    <a:pt x="648843" y="0"/>
                  </a:cubicBezTo>
                  <a:lnTo>
                    <a:pt x="9592564" y="0"/>
                  </a:lnTo>
                  <a:cubicBezTo>
                    <a:pt x="9950832" y="0"/>
                    <a:pt x="10241281" y="283845"/>
                    <a:pt x="10241281" y="633984"/>
                  </a:cubicBezTo>
                  <a:cubicBezTo>
                    <a:pt x="10241281" y="984123"/>
                    <a:pt x="9950832" y="1267968"/>
                    <a:pt x="9592564" y="1267968"/>
                  </a:cubicBezTo>
                  <a:lnTo>
                    <a:pt x="648843" y="1267968"/>
                  </a:lnTo>
                  <a:cubicBezTo>
                    <a:pt x="290576" y="1267968"/>
                    <a:pt x="127" y="984123"/>
                    <a:pt x="127" y="633984"/>
                  </a:cubicBezTo>
                  <a:close/>
                </a:path>
              </a:pathLst>
            </a:custGeom>
            <a:solidFill>
              <a:srgbClr val="2D2D2D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75189" cy="1301750"/>
            </a:xfrm>
            <a:custGeom>
              <a:avLst/>
              <a:gdLst/>
              <a:ahLst/>
              <a:cxnLst/>
              <a:rect r="r" b="b" t="t" l="l"/>
              <a:pathLst>
                <a:path h="1301750" w="10275189">
                  <a:moveTo>
                    <a:pt x="0" y="650875"/>
                  </a:moveTo>
                  <a:cubicBezTo>
                    <a:pt x="0" y="291084"/>
                    <a:pt x="298450" y="0"/>
                    <a:pt x="665734" y="0"/>
                  </a:cubicBezTo>
                  <a:lnTo>
                    <a:pt x="9609455" y="0"/>
                  </a:lnTo>
                  <a:lnTo>
                    <a:pt x="9609455" y="16891"/>
                  </a:lnTo>
                  <a:lnTo>
                    <a:pt x="9609455" y="0"/>
                  </a:lnTo>
                  <a:cubicBezTo>
                    <a:pt x="9976739" y="0"/>
                    <a:pt x="10275189" y="291084"/>
                    <a:pt x="10275189" y="650875"/>
                  </a:cubicBezTo>
                  <a:lnTo>
                    <a:pt x="10258299" y="650875"/>
                  </a:lnTo>
                  <a:lnTo>
                    <a:pt x="10275189" y="650875"/>
                  </a:lnTo>
                  <a:lnTo>
                    <a:pt x="10258299" y="650875"/>
                  </a:lnTo>
                  <a:lnTo>
                    <a:pt x="10275189" y="650875"/>
                  </a:lnTo>
                  <a:cubicBezTo>
                    <a:pt x="10275189" y="1010793"/>
                    <a:pt x="9976739" y="1301750"/>
                    <a:pt x="9609455" y="1301750"/>
                  </a:cubicBezTo>
                  <a:lnTo>
                    <a:pt x="9609455" y="1284859"/>
                  </a:lnTo>
                  <a:lnTo>
                    <a:pt x="9609455" y="1301750"/>
                  </a:lnTo>
                  <a:lnTo>
                    <a:pt x="665734" y="1301750"/>
                  </a:lnTo>
                  <a:lnTo>
                    <a:pt x="665734" y="1284859"/>
                  </a:lnTo>
                  <a:lnTo>
                    <a:pt x="665734" y="1301750"/>
                  </a:lnTo>
                  <a:cubicBezTo>
                    <a:pt x="298450" y="1301877"/>
                    <a:pt x="0" y="1010793"/>
                    <a:pt x="0" y="650875"/>
                  </a:cubicBezTo>
                  <a:lnTo>
                    <a:pt x="16891" y="650875"/>
                  </a:lnTo>
                  <a:lnTo>
                    <a:pt x="0" y="650875"/>
                  </a:lnTo>
                  <a:moveTo>
                    <a:pt x="33909" y="650875"/>
                  </a:moveTo>
                  <a:lnTo>
                    <a:pt x="16891" y="650875"/>
                  </a:lnTo>
                  <a:lnTo>
                    <a:pt x="33909" y="650875"/>
                  </a:lnTo>
                  <a:cubicBezTo>
                    <a:pt x="33909" y="991235"/>
                    <a:pt x="316484" y="1267968"/>
                    <a:pt x="665734" y="1267968"/>
                  </a:cubicBezTo>
                  <a:lnTo>
                    <a:pt x="9609455" y="1267968"/>
                  </a:lnTo>
                  <a:cubicBezTo>
                    <a:pt x="9958832" y="1267968"/>
                    <a:pt x="10241280" y="991362"/>
                    <a:pt x="10241280" y="650875"/>
                  </a:cubicBezTo>
                  <a:cubicBezTo>
                    <a:pt x="10241280" y="310515"/>
                    <a:pt x="9958705" y="33782"/>
                    <a:pt x="9609455" y="33782"/>
                  </a:cubicBezTo>
                  <a:lnTo>
                    <a:pt x="665734" y="33782"/>
                  </a:lnTo>
                  <a:lnTo>
                    <a:pt x="665734" y="16891"/>
                  </a:lnTo>
                  <a:lnTo>
                    <a:pt x="665734" y="33909"/>
                  </a:lnTo>
                  <a:cubicBezTo>
                    <a:pt x="316357" y="33909"/>
                    <a:pt x="33909" y="310515"/>
                    <a:pt x="33909" y="650875"/>
                  </a:cubicBez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3017520"/>
            <a:ext cx="7680960" cy="950976"/>
            <a:chOff x="0" y="0"/>
            <a:chExt cx="10241280" cy="12679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379" r="0" b="-10737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024128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Introduction &amp; Problem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31303" y="3004823"/>
            <a:ext cx="7706363" cy="976379"/>
            <a:chOff x="0" y="0"/>
            <a:chExt cx="10275151" cy="130183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6891" y="16891"/>
              <a:ext cx="10241281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241281">
                  <a:moveTo>
                    <a:pt x="0" y="633984"/>
                  </a:moveTo>
                  <a:cubicBezTo>
                    <a:pt x="0" y="283845"/>
                    <a:pt x="290449" y="0"/>
                    <a:pt x="648843" y="0"/>
                  </a:cubicBezTo>
                  <a:lnTo>
                    <a:pt x="9592564" y="0"/>
                  </a:lnTo>
                  <a:cubicBezTo>
                    <a:pt x="9950832" y="0"/>
                    <a:pt x="10241281" y="283845"/>
                    <a:pt x="10241281" y="633984"/>
                  </a:cubicBezTo>
                  <a:cubicBezTo>
                    <a:pt x="10241281" y="984123"/>
                    <a:pt x="9950832" y="1267968"/>
                    <a:pt x="9592564" y="1267968"/>
                  </a:cubicBezTo>
                  <a:lnTo>
                    <a:pt x="648843" y="1267968"/>
                  </a:lnTo>
                  <a:cubicBezTo>
                    <a:pt x="290576" y="1267968"/>
                    <a:pt x="127" y="984123"/>
                    <a:pt x="127" y="633984"/>
                  </a:cubicBezTo>
                  <a:close/>
                </a:path>
              </a:pathLst>
            </a:custGeom>
            <a:solidFill>
              <a:srgbClr val="2D2D2D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75189" cy="1301750"/>
            </a:xfrm>
            <a:custGeom>
              <a:avLst/>
              <a:gdLst/>
              <a:ahLst/>
              <a:cxnLst/>
              <a:rect r="r" b="b" t="t" l="l"/>
              <a:pathLst>
                <a:path h="1301750" w="10275189">
                  <a:moveTo>
                    <a:pt x="0" y="650875"/>
                  </a:moveTo>
                  <a:cubicBezTo>
                    <a:pt x="0" y="291084"/>
                    <a:pt x="298450" y="0"/>
                    <a:pt x="665734" y="0"/>
                  </a:cubicBezTo>
                  <a:lnTo>
                    <a:pt x="9609455" y="0"/>
                  </a:lnTo>
                  <a:lnTo>
                    <a:pt x="9609455" y="16891"/>
                  </a:lnTo>
                  <a:lnTo>
                    <a:pt x="9609455" y="0"/>
                  </a:lnTo>
                  <a:cubicBezTo>
                    <a:pt x="9976739" y="0"/>
                    <a:pt x="10275189" y="291084"/>
                    <a:pt x="10275189" y="650875"/>
                  </a:cubicBezTo>
                  <a:lnTo>
                    <a:pt x="10258299" y="650875"/>
                  </a:lnTo>
                  <a:lnTo>
                    <a:pt x="10275189" y="650875"/>
                  </a:lnTo>
                  <a:lnTo>
                    <a:pt x="10258299" y="650875"/>
                  </a:lnTo>
                  <a:lnTo>
                    <a:pt x="10275189" y="650875"/>
                  </a:lnTo>
                  <a:cubicBezTo>
                    <a:pt x="10275189" y="1010793"/>
                    <a:pt x="9976739" y="1301750"/>
                    <a:pt x="9609455" y="1301750"/>
                  </a:cubicBezTo>
                  <a:lnTo>
                    <a:pt x="9609455" y="1284859"/>
                  </a:lnTo>
                  <a:lnTo>
                    <a:pt x="9609455" y="1301750"/>
                  </a:lnTo>
                  <a:lnTo>
                    <a:pt x="665734" y="1301750"/>
                  </a:lnTo>
                  <a:lnTo>
                    <a:pt x="665734" y="1284859"/>
                  </a:lnTo>
                  <a:lnTo>
                    <a:pt x="665734" y="1301750"/>
                  </a:lnTo>
                  <a:cubicBezTo>
                    <a:pt x="298450" y="1301877"/>
                    <a:pt x="0" y="1010793"/>
                    <a:pt x="0" y="650875"/>
                  </a:cubicBezTo>
                  <a:lnTo>
                    <a:pt x="16891" y="650875"/>
                  </a:lnTo>
                  <a:lnTo>
                    <a:pt x="0" y="650875"/>
                  </a:lnTo>
                  <a:moveTo>
                    <a:pt x="33909" y="650875"/>
                  </a:moveTo>
                  <a:lnTo>
                    <a:pt x="16891" y="650875"/>
                  </a:lnTo>
                  <a:lnTo>
                    <a:pt x="33909" y="650875"/>
                  </a:lnTo>
                  <a:cubicBezTo>
                    <a:pt x="33909" y="991235"/>
                    <a:pt x="316484" y="1267968"/>
                    <a:pt x="665734" y="1267968"/>
                  </a:cubicBezTo>
                  <a:lnTo>
                    <a:pt x="9609455" y="1267968"/>
                  </a:lnTo>
                  <a:cubicBezTo>
                    <a:pt x="9958832" y="1267968"/>
                    <a:pt x="10241280" y="991362"/>
                    <a:pt x="10241280" y="650875"/>
                  </a:cubicBezTo>
                  <a:cubicBezTo>
                    <a:pt x="10241280" y="310515"/>
                    <a:pt x="9958705" y="33782"/>
                    <a:pt x="9609455" y="33782"/>
                  </a:cubicBezTo>
                  <a:lnTo>
                    <a:pt x="665734" y="33782"/>
                  </a:lnTo>
                  <a:lnTo>
                    <a:pt x="665734" y="16891"/>
                  </a:lnTo>
                  <a:lnTo>
                    <a:pt x="665734" y="33909"/>
                  </a:lnTo>
                  <a:cubicBezTo>
                    <a:pt x="316357" y="33909"/>
                    <a:pt x="33909" y="310515"/>
                    <a:pt x="33909" y="650875"/>
                  </a:cubicBez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0" y="3017520"/>
            <a:ext cx="7680960" cy="950976"/>
            <a:chOff x="0" y="0"/>
            <a:chExt cx="10241280" cy="12679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379" r="0" b="-10737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024128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 &amp; EDA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01703" y="4376423"/>
            <a:ext cx="7706363" cy="976379"/>
            <a:chOff x="0" y="0"/>
            <a:chExt cx="10275151" cy="130183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10241281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241281">
                  <a:moveTo>
                    <a:pt x="0" y="633984"/>
                  </a:moveTo>
                  <a:cubicBezTo>
                    <a:pt x="0" y="283845"/>
                    <a:pt x="290449" y="0"/>
                    <a:pt x="648843" y="0"/>
                  </a:cubicBezTo>
                  <a:lnTo>
                    <a:pt x="9592564" y="0"/>
                  </a:lnTo>
                  <a:cubicBezTo>
                    <a:pt x="9950832" y="0"/>
                    <a:pt x="10241281" y="283845"/>
                    <a:pt x="10241281" y="633984"/>
                  </a:cubicBezTo>
                  <a:cubicBezTo>
                    <a:pt x="10241281" y="984123"/>
                    <a:pt x="9950832" y="1267968"/>
                    <a:pt x="9592564" y="1267968"/>
                  </a:cubicBezTo>
                  <a:lnTo>
                    <a:pt x="648843" y="1267968"/>
                  </a:lnTo>
                  <a:cubicBezTo>
                    <a:pt x="290576" y="1267968"/>
                    <a:pt x="127" y="984123"/>
                    <a:pt x="127" y="633984"/>
                  </a:cubicBezTo>
                  <a:close/>
                </a:path>
              </a:pathLst>
            </a:custGeom>
            <a:solidFill>
              <a:srgbClr val="2D2D2D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75189" cy="1301750"/>
            </a:xfrm>
            <a:custGeom>
              <a:avLst/>
              <a:gdLst/>
              <a:ahLst/>
              <a:cxnLst/>
              <a:rect r="r" b="b" t="t" l="l"/>
              <a:pathLst>
                <a:path h="1301750" w="10275189">
                  <a:moveTo>
                    <a:pt x="0" y="650875"/>
                  </a:moveTo>
                  <a:cubicBezTo>
                    <a:pt x="0" y="291084"/>
                    <a:pt x="298450" y="0"/>
                    <a:pt x="665734" y="0"/>
                  </a:cubicBezTo>
                  <a:lnTo>
                    <a:pt x="9609455" y="0"/>
                  </a:lnTo>
                  <a:lnTo>
                    <a:pt x="9609455" y="16891"/>
                  </a:lnTo>
                  <a:lnTo>
                    <a:pt x="9609455" y="0"/>
                  </a:lnTo>
                  <a:cubicBezTo>
                    <a:pt x="9976739" y="0"/>
                    <a:pt x="10275189" y="291084"/>
                    <a:pt x="10275189" y="650875"/>
                  </a:cubicBezTo>
                  <a:lnTo>
                    <a:pt x="10258299" y="650875"/>
                  </a:lnTo>
                  <a:lnTo>
                    <a:pt x="10275189" y="650875"/>
                  </a:lnTo>
                  <a:lnTo>
                    <a:pt x="10258299" y="650875"/>
                  </a:lnTo>
                  <a:lnTo>
                    <a:pt x="10275189" y="650875"/>
                  </a:lnTo>
                  <a:cubicBezTo>
                    <a:pt x="10275189" y="1010793"/>
                    <a:pt x="9976739" y="1301750"/>
                    <a:pt x="9609455" y="1301750"/>
                  </a:cubicBezTo>
                  <a:lnTo>
                    <a:pt x="9609455" y="1284859"/>
                  </a:lnTo>
                  <a:lnTo>
                    <a:pt x="9609455" y="1301750"/>
                  </a:lnTo>
                  <a:lnTo>
                    <a:pt x="665734" y="1301750"/>
                  </a:lnTo>
                  <a:lnTo>
                    <a:pt x="665734" y="1284859"/>
                  </a:lnTo>
                  <a:lnTo>
                    <a:pt x="665734" y="1301750"/>
                  </a:lnTo>
                  <a:cubicBezTo>
                    <a:pt x="298450" y="1301877"/>
                    <a:pt x="0" y="1010793"/>
                    <a:pt x="0" y="650875"/>
                  </a:cubicBezTo>
                  <a:lnTo>
                    <a:pt x="16891" y="650875"/>
                  </a:lnTo>
                  <a:lnTo>
                    <a:pt x="0" y="650875"/>
                  </a:lnTo>
                  <a:moveTo>
                    <a:pt x="33909" y="650875"/>
                  </a:moveTo>
                  <a:lnTo>
                    <a:pt x="16891" y="650875"/>
                  </a:lnTo>
                  <a:lnTo>
                    <a:pt x="33909" y="650875"/>
                  </a:lnTo>
                  <a:cubicBezTo>
                    <a:pt x="33909" y="991235"/>
                    <a:pt x="316484" y="1267968"/>
                    <a:pt x="665734" y="1267968"/>
                  </a:cubicBezTo>
                  <a:lnTo>
                    <a:pt x="9609455" y="1267968"/>
                  </a:lnTo>
                  <a:cubicBezTo>
                    <a:pt x="9958832" y="1267968"/>
                    <a:pt x="10241280" y="991362"/>
                    <a:pt x="10241280" y="650875"/>
                  </a:cubicBezTo>
                  <a:cubicBezTo>
                    <a:pt x="10241280" y="310515"/>
                    <a:pt x="9958705" y="33782"/>
                    <a:pt x="9609455" y="33782"/>
                  </a:cubicBezTo>
                  <a:lnTo>
                    <a:pt x="665734" y="33782"/>
                  </a:lnTo>
                  <a:lnTo>
                    <a:pt x="665734" y="16891"/>
                  </a:lnTo>
                  <a:lnTo>
                    <a:pt x="665734" y="33909"/>
                  </a:lnTo>
                  <a:cubicBezTo>
                    <a:pt x="316357" y="33909"/>
                    <a:pt x="33909" y="310515"/>
                    <a:pt x="33909" y="650875"/>
                  </a:cubicBez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14400" y="4389120"/>
            <a:ext cx="7680960" cy="950976"/>
            <a:chOff x="0" y="0"/>
            <a:chExt cx="10241280" cy="12679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412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379" r="0" b="-10737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024128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Statistical Analysis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131303" y="4376423"/>
            <a:ext cx="7706363" cy="976379"/>
            <a:chOff x="0" y="0"/>
            <a:chExt cx="10275151" cy="130183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10241281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241281">
                  <a:moveTo>
                    <a:pt x="0" y="633984"/>
                  </a:moveTo>
                  <a:cubicBezTo>
                    <a:pt x="0" y="283845"/>
                    <a:pt x="290449" y="0"/>
                    <a:pt x="648843" y="0"/>
                  </a:cubicBezTo>
                  <a:lnTo>
                    <a:pt x="9592564" y="0"/>
                  </a:lnTo>
                  <a:cubicBezTo>
                    <a:pt x="9950832" y="0"/>
                    <a:pt x="10241281" y="283845"/>
                    <a:pt x="10241281" y="633984"/>
                  </a:cubicBezTo>
                  <a:cubicBezTo>
                    <a:pt x="10241281" y="984123"/>
                    <a:pt x="9950832" y="1267968"/>
                    <a:pt x="9592564" y="1267968"/>
                  </a:cubicBezTo>
                  <a:lnTo>
                    <a:pt x="648843" y="1267968"/>
                  </a:lnTo>
                  <a:cubicBezTo>
                    <a:pt x="290576" y="1267968"/>
                    <a:pt x="127" y="984123"/>
                    <a:pt x="127" y="633984"/>
                  </a:cubicBezTo>
                  <a:close/>
                </a:path>
              </a:pathLst>
            </a:custGeom>
            <a:solidFill>
              <a:srgbClr val="2D2D2D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275189" cy="1301750"/>
            </a:xfrm>
            <a:custGeom>
              <a:avLst/>
              <a:gdLst/>
              <a:ahLst/>
              <a:cxnLst/>
              <a:rect r="r" b="b" t="t" l="l"/>
              <a:pathLst>
                <a:path h="1301750" w="10275189">
                  <a:moveTo>
                    <a:pt x="0" y="650875"/>
                  </a:moveTo>
                  <a:cubicBezTo>
                    <a:pt x="0" y="291084"/>
                    <a:pt x="298450" y="0"/>
                    <a:pt x="665734" y="0"/>
                  </a:cubicBezTo>
                  <a:lnTo>
                    <a:pt x="9609455" y="0"/>
                  </a:lnTo>
                  <a:lnTo>
                    <a:pt x="9609455" y="16891"/>
                  </a:lnTo>
                  <a:lnTo>
                    <a:pt x="9609455" y="0"/>
                  </a:lnTo>
                  <a:cubicBezTo>
                    <a:pt x="9976739" y="0"/>
                    <a:pt x="10275189" y="291084"/>
                    <a:pt x="10275189" y="650875"/>
                  </a:cubicBezTo>
                  <a:lnTo>
                    <a:pt x="10258299" y="650875"/>
                  </a:lnTo>
                  <a:lnTo>
                    <a:pt x="10275189" y="650875"/>
                  </a:lnTo>
                  <a:lnTo>
                    <a:pt x="10258299" y="650875"/>
                  </a:lnTo>
                  <a:lnTo>
                    <a:pt x="10275189" y="650875"/>
                  </a:lnTo>
                  <a:cubicBezTo>
                    <a:pt x="10275189" y="1010793"/>
                    <a:pt x="9976739" y="1301750"/>
                    <a:pt x="9609455" y="1301750"/>
                  </a:cubicBezTo>
                  <a:lnTo>
                    <a:pt x="9609455" y="1284859"/>
                  </a:lnTo>
                  <a:lnTo>
                    <a:pt x="9609455" y="1301750"/>
                  </a:lnTo>
                  <a:lnTo>
                    <a:pt x="665734" y="1301750"/>
                  </a:lnTo>
                  <a:lnTo>
                    <a:pt x="665734" y="1284859"/>
                  </a:lnTo>
                  <a:lnTo>
                    <a:pt x="665734" y="1301750"/>
                  </a:lnTo>
                  <a:cubicBezTo>
                    <a:pt x="298450" y="1301877"/>
                    <a:pt x="0" y="1010793"/>
                    <a:pt x="0" y="650875"/>
                  </a:cubicBezTo>
                  <a:lnTo>
                    <a:pt x="16891" y="650875"/>
                  </a:lnTo>
                  <a:lnTo>
                    <a:pt x="0" y="650875"/>
                  </a:lnTo>
                  <a:moveTo>
                    <a:pt x="33909" y="650875"/>
                  </a:moveTo>
                  <a:lnTo>
                    <a:pt x="16891" y="650875"/>
                  </a:lnTo>
                  <a:lnTo>
                    <a:pt x="33909" y="650875"/>
                  </a:lnTo>
                  <a:cubicBezTo>
                    <a:pt x="33909" y="991235"/>
                    <a:pt x="316484" y="1267968"/>
                    <a:pt x="665734" y="1267968"/>
                  </a:cubicBezTo>
                  <a:lnTo>
                    <a:pt x="9609455" y="1267968"/>
                  </a:lnTo>
                  <a:cubicBezTo>
                    <a:pt x="9958832" y="1267968"/>
                    <a:pt x="10241280" y="991362"/>
                    <a:pt x="10241280" y="650875"/>
                  </a:cubicBezTo>
                  <a:cubicBezTo>
                    <a:pt x="10241280" y="310515"/>
                    <a:pt x="9958705" y="33782"/>
                    <a:pt x="9609455" y="33782"/>
                  </a:cubicBezTo>
                  <a:lnTo>
                    <a:pt x="665734" y="33782"/>
                  </a:lnTo>
                  <a:lnTo>
                    <a:pt x="665734" y="16891"/>
                  </a:lnTo>
                  <a:lnTo>
                    <a:pt x="665734" y="33909"/>
                  </a:lnTo>
                  <a:cubicBezTo>
                    <a:pt x="316357" y="33909"/>
                    <a:pt x="33909" y="310515"/>
                    <a:pt x="33909" y="650875"/>
                  </a:cubicBez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144000" y="4389120"/>
            <a:ext cx="7680960" cy="950976"/>
            <a:chOff x="0" y="0"/>
            <a:chExt cx="10241280" cy="126796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412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379" r="0" b="-10737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024128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Statistical Modeling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01703" y="5748023"/>
            <a:ext cx="7706363" cy="976379"/>
            <a:chOff x="0" y="0"/>
            <a:chExt cx="10275151" cy="130183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10241281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241281">
                  <a:moveTo>
                    <a:pt x="0" y="633984"/>
                  </a:moveTo>
                  <a:cubicBezTo>
                    <a:pt x="0" y="283845"/>
                    <a:pt x="290449" y="0"/>
                    <a:pt x="648843" y="0"/>
                  </a:cubicBezTo>
                  <a:lnTo>
                    <a:pt x="9592564" y="0"/>
                  </a:lnTo>
                  <a:cubicBezTo>
                    <a:pt x="9950832" y="0"/>
                    <a:pt x="10241281" y="283845"/>
                    <a:pt x="10241281" y="633984"/>
                  </a:cubicBezTo>
                  <a:cubicBezTo>
                    <a:pt x="10241281" y="984123"/>
                    <a:pt x="9950832" y="1267968"/>
                    <a:pt x="9592564" y="1267968"/>
                  </a:cubicBezTo>
                  <a:lnTo>
                    <a:pt x="648843" y="1267968"/>
                  </a:lnTo>
                  <a:cubicBezTo>
                    <a:pt x="290576" y="1267968"/>
                    <a:pt x="127" y="984123"/>
                    <a:pt x="127" y="633984"/>
                  </a:cubicBezTo>
                  <a:close/>
                </a:path>
              </a:pathLst>
            </a:custGeom>
            <a:solidFill>
              <a:srgbClr val="2D2D2D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75189" cy="1301750"/>
            </a:xfrm>
            <a:custGeom>
              <a:avLst/>
              <a:gdLst/>
              <a:ahLst/>
              <a:cxnLst/>
              <a:rect r="r" b="b" t="t" l="l"/>
              <a:pathLst>
                <a:path h="1301750" w="10275189">
                  <a:moveTo>
                    <a:pt x="0" y="650875"/>
                  </a:moveTo>
                  <a:cubicBezTo>
                    <a:pt x="0" y="291084"/>
                    <a:pt x="298450" y="0"/>
                    <a:pt x="665734" y="0"/>
                  </a:cubicBezTo>
                  <a:lnTo>
                    <a:pt x="9609455" y="0"/>
                  </a:lnTo>
                  <a:lnTo>
                    <a:pt x="9609455" y="16891"/>
                  </a:lnTo>
                  <a:lnTo>
                    <a:pt x="9609455" y="0"/>
                  </a:lnTo>
                  <a:cubicBezTo>
                    <a:pt x="9976739" y="0"/>
                    <a:pt x="10275189" y="291084"/>
                    <a:pt x="10275189" y="650875"/>
                  </a:cubicBezTo>
                  <a:lnTo>
                    <a:pt x="10258299" y="650875"/>
                  </a:lnTo>
                  <a:lnTo>
                    <a:pt x="10275189" y="650875"/>
                  </a:lnTo>
                  <a:lnTo>
                    <a:pt x="10258299" y="650875"/>
                  </a:lnTo>
                  <a:lnTo>
                    <a:pt x="10275189" y="650875"/>
                  </a:lnTo>
                  <a:cubicBezTo>
                    <a:pt x="10275189" y="1010793"/>
                    <a:pt x="9976739" y="1301750"/>
                    <a:pt x="9609455" y="1301750"/>
                  </a:cubicBezTo>
                  <a:lnTo>
                    <a:pt x="9609455" y="1284859"/>
                  </a:lnTo>
                  <a:lnTo>
                    <a:pt x="9609455" y="1301750"/>
                  </a:lnTo>
                  <a:lnTo>
                    <a:pt x="665734" y="1301750"/>
                  </a:lnTo>
                  <a:lnTo>
                    <a:pt x="665734" y="1284859"/>
                  </a:lnTo>
                  <a:lnTo>
                    <a:pt x="665734" y="1301750"/>
                  </a:lnTo>
                  <a:cubicBezTo>
                    <a:pt x="298450" y="1301877"/>
                    <a:pt x="0" y="1010793"/>
                    <a:pt x="0" y="650875"/>
                  </a:cubicBezTo>
                  <a:lnTo>
                    <a:pt x="16891" y="650875"/>
                  </a:lnTo>
                  <a:lnTo>
                    <a:pt x="0" y="650875"/>
                  </a:lnTo>
                  <a:moveTo>
                    <a:pt x="33909" y="650875"/>
                  </a:moveTo>
                  <a:lnTo>
                    <a:pt x="16891" y="650875"/>
                  </a:lnTo>
                  <a:lnTo>
                    <a:pt x="33909" y="650875"/>
                  </a:lnTo>
                  <a:cubicBezTo>
                    <a:pt x="33909" y="991235"/>
                    <a:pt x="316484" y="1267968"/>
                    <a:pt x="665734" y="1267968"/>
                  </a:cubicBezTo>
                  <a:lnTo>
                    <a:pt x="9609455" y="1267968"/>
                  </a:lnTo>
                  <a:cubicBezTo>
                    <a:pt x="9958832" y="1267968"/>
                    <a:pt x="10241280" y="991362"/>
                    <a:pt x="10241280" y="650875"/>
                  </a:cubicBezTo>
                  <a:cubicBezTo>
                    <a:pt x="10241280" y="310515"/>
                    <a:pt x="9958705" y="33782"/>
                    <a:pt x="9609455" y="33782"/>
                  </a:cubicBezTo>
                  <a:lnTo>
                    <a:pt x="665734" y="33782"/>
                  </a:lnTo>
                  <a:lnTo>
                    <a:pt x="665734" y="16891"/>
                  </a:lnTo>
                  <a:lnTo>
                    <a:pt x="665734" y="33909"/>
                  </a:lnTo>
                  <a:cubicBezTo>
                    <a:pt x="316357" y="33909"/>
                    <a:pt x="33909" y="310515"/>
                    <a:pt x="33909" y="650875"/>
                  </a:cubicBez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14400" y="5760720"/>
            <a:ext cx="7680960" cy="950976"/>
            <a:chOff x="0" y="0"/>
            <a:chExt cx="10241280" cy="126796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2412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379" r="0" b="-10737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024128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Hypothesis Testing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31303" y="5748023"/>
            <a:ext cx="7706363" cy="976379"/>
            <a:chOff x="0" y="0"/>
            <a:chExt cx="10275151" cy="130183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10241281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241281">
                  <a:moveTo>
                    <a:pt x="0" y="633984"/>
                  </a:moveTo>
                  <a:cubicBezTo>
                    <a:pt x="0" y="283845"/>
                    <a:pt x="290449" y="0"/>
                    <a:pt x="648843" y="0"/>
                  </a:cubicBezTo>
                  <a:lnTo>
                    <a:pt x="9592564" y="0"/>
                  </a:lnTo>
                  <a:cubicBezTo>
                    <a:pt x="9950832" y="0"/>
                    <a:pt x="10241281" y="283845"/>
                    <a:pt x="10241281" y="633984"/>
                  </a:cubicBezTo>
                  <a:cubicBezTo>
                    <a:pt x="10241281" y="984123"/>
                    <a:pt x="9950832" y="1267968"/>
                    <a:pt x="9592564" y="1267968"/>
                  </a:cubicBezTo>
                  <a:lnTo>
                    <a:pt x="648843" y="1267968"/>
                  </a:lnTo>
                  <a:cubicBezTo>
                    <a:pt x="290576" y="1267968"/>
                    <a:pt x="127" y="984123"/>
                    <a:pt x="127" y="633984"/>
                  </a:cubicBezTo>
                  <a:close/>
                </a:path>
              </a:pathLst>
            </a:custGeom>
            <a:solidFill>
              <a:srgbClr val="2D2D2D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75189" cy="1301750"/>
            </a:xfrm>
            <a:custGeom>
              <a:avLst/>
              <a:gdLst/>
              <a:ahLst/>
              <a:cxnLst/>
              <a:rect r="r" b="b" t="t" l="l"/>
              <a:pathLst>
                <a:path h="1301750" w="10275189">
                  <a:moveTo>
                    <a:pt x="0" y="650875"/>
                  </a:moveTo>
                  <a:cubicBezTo>
                    <a:pt x="0" y="291084"/>
                    <a:pt x="298450" y="0"/>
                    <a:pt x="665734" y="0"/>
                  </a:cubicBezTo>
                  <a:lnTo>
                    <a:pt x="9609455" y="0"/>
                  </a:lnTo>
                  <a:lnTo>
                    <a:pt x="9609455" y="16891"/>
                  </a:lnTo>
                  <a:lnTo>
                    <a:pt x="9609455" y="0"/>
                  </a:lnTo>
                  <a:cubicBezTo>
                    <a:pt x="9976739" y="0"/>
                    <a:pt x="10275189" y="291084"/>
                    <a:pt x="10275189" y="650875"/>
                  </a:cubicBezTo>
                  <a:lnTo>
                    <a:pt x="10258299" y="650875"/>
                  </a:lnTo>
                  <a:lnTo>
                    <a:pt x="10275189" y="650875"/>
                  </a:lnTo>
                  <a:lnTo>
                    <a:pt x="10258299" y="650875"/>
                  </a:lnTo>
                  <a:lnTo>
                    <a:pt x="10275189" y="650875"/>
                  </a:lnTo>
                  <a:cubicBezTo>
                    <a:pt x="10275189" y="1010793"/>
                    <a:pt x="9976739" y="1301750"/>
                    <a:pt x="9609455" y="1301750"/>
                  </a:cubicBezTo>
                  <a:lnTo>
                    <a:pt x="9609455" y="1284859"/>
                  </a:lnTo>
                  <a:lnTo>
                    <a:pt x="9609455" y="1301750"/>
                  </a:lnTo>
                  <a:lnTo>
                    <a:pt x="665734" y="1301750"/>
                  </a:lnTo>
                  <a:lnTo>
                    <a:pt x="665734" y="1284859"/>
                  </a:lnTo>
                  <a:lnTo>
                    <a:pt x="665734" y="1301750"/>
                  </a:lnTo>
                  <a:cubicBezTo>
                    <a:pt x="298450" y="1301877"/>
                    <a:pt x="0" y="1010793"/>
                    <a:pt x="0" y="650875"/>
                  </a:cubicBezTo>
                  <a:lnTo>
                    <a:pt x="16891" y="650875"/>
                  </a:lnTo>
                  <a:lnTo>
                    <a:pt x="0" y="650875"/>
                  </a:lnTo>
                  <a:moveTo>
                    <a:pt x="33909" y="650875"/>
                  </a:moveTo>
                  <a:lnTo>
                    <a:pt x="16891" y="650875"/>
                  </a:lnTo>
                  <a:lnTo>
                    <a:pt x="33909" y="650875"/>
                  </a:lnTo>
                  <a:cubicBezTo>
                    <a:pt x="33909" y="991235"/>
                    <a:pt x="316484" y="1267968"/>
                    <a:pt x="665734" y="1267968"/>
                  </a:cubicBezTo>
                  <a:lnTo>
                    <a:pt x="9609455" y="1267968"/>
                  </a:lnTo>
                  <a:cubicBezTo>
                    <a:pt x="9958832" y="1267968"/>
                    <a:pt x="10241280" y="991362"/>
                    <a:pt x="10241280" y="650875"/>
                  </a:cubicBezTo>
                  <a:cubicBezTo>
                    <a:pt x="10241280" y="310515"/>
                    <a:pt x="9958705" y="33782"/>
                    <a:pt x="9609455" y="33782"/>
                  </a:cubicBezTo>
                  <a:lnTo>
                    <a:pt x="665734" y="33782"/>
                  </a:lnTo>
                  <a:lnTo>
                    <a:pt x="665734" y="16891"/>
                  </a:lnTo>
                  <a:lnTo>
                    <a:pt x="665734" y="33909"/>
                  </a:lnTo>
                  <a:cubicBezTo>
                    <a:pt x="316357" y="33909"/>
                    <a:pt x="33909" y="310515"/>
                    <a:pt x="33909" y="650875"/>
                  </a:cubicBez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144000" y="5760720"/>
            <a:ext cx="7680960" cy="950976"/>
            <a:chOff x="0" y="0"/>
            <a:chExt cx="10241280" cy="126796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2412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379" r="0" b="-10737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024128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Python Application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01703" y="7119623"/>
            <a:ext cx="7706363" cy="976379"/>
            <a:chOff x="0" y="0"/>
            <a:chExt cx="10275151" cy="130183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10241281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241281">
                  <a:moveTo>
                    <a:pt x="0" y="633984"/>
                  </a:moveTo>
                  <a:cubicBezTo>
                    <a:pt x="0" y="283845"/>
                    <a:pt x="290449" y="0"/>
                    <a:pt x="648843" y="0"/>
                  </a:cubicBezTo>
                  <a:lnTo>
                    <a:pt x="9592564" y="0"/>
                  </a:lnTo>
                  <a:cubicBezTo>
                    <a:pt x="9950832" y="0"/>
                    <a:pt x="10241281" y="283845"/>
                    <a:pt x="10241281" y="633984"/>
                  </a:cubicBezTo>
                  <a:cubicBezTo>
                    <a:pt x="10241281" y="984123"/>
                    <a:pt x="9950832" y="1267968"/>
                    <a:pt x="9592564" y="1267968"/>
                  </a:cubicBezTo>
                  <a:lnTo>
                    <a:pt x="648843" y="1267968"/>
                  </a:lnTo>
                  <a:cubicBezTo>
                    <a:pt x="290576" y="1267968"/>
                    <a:pt x="127" y="984123"/>
                    <a:pt x="127" y="633984"/>
                  </a:cubicBezTo>
                  <a:close/>
                </a:path>
              </a:pathLst>
            </a:custGeom>
            <a:solidFill>
              <a:srgbClr val="2D2D2D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275189" cy="1301750"/>
            </a:xfrm>
            <a:custGeom>
              <a:avLst/>
              <a:gdLst/>
              <a:ahLst/>
              <a:cxnLst/>
              <a:rect r="r" b="b" t="t" l="l"/>
              <a:pathLst>
                <a:path h="1301750" w="10275189">
                  <a:moveTo>
                    <a:pt x="0" y="650875"/>
                  </a:moveTo>
                  <a:cubicBezTo>
                    <a:pt x="0" y="291084"/>
                    <a:pt x="298450" y="0"/>
                    <a:pt x="665734" y="0"/>
                  </a:cubicBezTo>
                  <a:lnTo>
                    <a:pt x="9609455" y="0"/>
                  </a:lnTo>
                  <a:lnTo>
                    <a:pt x="9609455" y="16891"/>
                  </a:lnTo>
                  <a:lnTo>
                    <a:pt x="9609455" y="0"/>
                  </a:lnTo>
                  <a:cubicBezTo>
                    <a:pt x="9976739" y="0"/>
                    <a:pt x="10275189" y="291084"/>
                    <a:pt x="10275189" y="650875"/>
                  </a:cubicBezTo>
                  <a:lnTo>
                    <a:pt x="10258299" y="650875"/>
                  </a:lnTo>
                  <a:lnTo>
                    <a:pt x="10275189" y="650875"/>
                  </a:lnTo>
                  <a:lnTo>
                    <a:pt x="10258299" y="650875"/>
                  </a:lnTo>
                  <a:lnTo>
                    <a:pt x="10275189" y="650875"/>
                  </a:lnTo>
                  <a:cubicBezTo>
                    <a:pt x="10275189" y="1010793"/>
                    <a:pt x="9976739" y="1301750"/>
                    <a:pt x="9609455" y="1301750"/>
                  </a:cubicBezTo>
                  <a:lnTo>
                    <a:pt x="9609455" y="1284859"/>
                  </a:lnTo>
                  <a:lnTo>
                    <a:pt x="9609455" y="1301750"/>
                  </a:lnTo>
                  <a:lnTo>
                    <a:pt x="665734" y="1301750"/>
                  </a:lnTo>
                  <a:lnTo>
                    <a:pt x="665734" y="1284859"/>
                  </a:lnTo>
                  <a:lnTo>
                    <a:pt x="665734" y="1301750"/>
                  </a:lnTo>
                  <a:cubicBezTo>
                    <a:pt x="298450" y="1301877"/>
                    <a:pt x="0" y="1010793"/>
                    <a:pt x="0" y="650875"/>
                  </a:cubicBezTo>
                  <a:lnTo>
                    <a:pt x="16891" y="650875"/>
                  </a:lnTo>
                  <a:lnTo>
                    <a:pt x="0" y="650875"/>
                  </a:lnTo>
                  <a:moveTo>
                    <a:pt x="33909" y="650875"/>
                  </a:moveTo>
                  <a:lnTo>
                    <a:pt x="16891" y="650875"/>
                  </a:lnTo>
                  <a:lnTo>
                    <a:pt x="33909" y="650875"/>
                  </a:lnTo>
                  <a:cubicBezTo>
                    <a:pt x="33909" y="991235"/>
                    <a:pt x="316484" y="1267968"/>
                    <a:pt x="665734" y="1267968"/>
                  </a:cubicBezTo>
                  <a:lnTo>
                    <a:pt x="9609455" y="1267968"/>
                  </a:lnTo>
                  <a:cubicBezTo>
                    <a:pt x="9958832" y="1267968"/>
                    <a:pt x="10241280" y="991362"/>
                    <a:pt x="10241280" y="650875"/>
                  </a:cubicBezTo>
                  <a:cubicBezTo>
                    <a:pt x="10241280" y="310515"/>
                    <a:pt x="9958705" y="33782"/>
                    <a:pt x="9609455" y="33782"/>
                  </a:cubicBezTo>
                  <a:lnTo>
                    <a:pt x="665734" y="33782"/>
                  </a:lnTo>
                  <a:lnTo>
                    <a:pt x="665734" y="16891"/>
                  </a:lnTo>
                  <a:lnTo>
                    <a:pt x="665734" y="33909"/>
                  </a:lnTo>
                  <a:cubicBezTo>
                    <a:pt x="316357" y="33909"/>
                    <a:pt x="33909" y="310515"/>
                    <a:pt x="33909" y="650875"/>
                  </a:cubicBez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14400" y="7132320"/>
            <a:ext cx="7680960" cy="950976"/>
            <a:chOff x="0" y="0"/>
            <a:chExt cx="10241280" cy="126796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2412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379" r="0" b="-10737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1024128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 Findings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131303" y="7119623"/>
            <a:ext cx="7706363" cy="976379"/>
            <a:chOff x="0" y="0"/>
            <a:chExt cx="10275151" cy="130183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10241281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241281">
                  <a:moveTo>
                    <a:pt x="0" y="633984"/>
                  </a:moveTo>
                  <a:cubicBezTo>
                    <a:pt x="0" y="283845"/>
                    <a:pt x="290449" y="0"/>
                    <a:pt x="648843" y="0"/>
                  </a:cubicBezTo>
                  <a:lnTo>
                    <a:pt x="9592564" y="0"/>
                  </a:lnTo>
                  <a:cubicBezTo>
                    <a:pt x="9950832" y="0"/>
                    <a:pt x="10241281" y="283845"/>
                    <a:pt x="10241281" y="633984"/>
                  </a:cubicBezTo>
                  <a:cubicBezTo>
                    <a:pt x="10241281" y="984123"/>
                    <a:pt x="9950832" y="1267968"/>
                    <a:pt x="9592564" y="1267968"/>
                  </a:cubicBezTo>
                  <a:lnTo>
                    <a:pt x="648843" y="1267968"/>
                  </a:lnTo>
                  <a:cubicBezTo>
                    <a:pt x="290576" y="1267968"/>
                    <a:pt x="127" y="984123"/>
                    <a:pt x="127" y="633984"/>
                  </a:cubicBezTo>
                  <a:close/>
                </a:path>
              </a:pathLst>
            </a:custGeom>
            <a:solidFill>
              <a:srgbClr val="2D2D2D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275189" cy="1301750"/>
            </a:xfrm>
            <a:custGeom>
              <a:avLst/>
              <a:gdLst/>
              <a:ahLst/>
              <a:cxnLst/>
              <a:rect r="r" b="b" t="t" l="l"/>
              <a:pathLst>
                <a:path h="1301750" w="10275189">
                  <a:moveTo>
                    <a:pt x="0" y="650875"/>
                  </a:moveTo>
                  <a:cubicBezTo>
                    <a:pt x="0" y="291084"/>
                    <a:pt x="298450" y="0"/>
                    <a:pt x="665734" y="0"/>
                  </a:cubicBezTo>
                  <a:lnTo>
                    <a:pt x="9609455" y="0"/>
                  </a:lnTo>
                  <a:lnTo>
                    <a:pt x="9609455" y="16891"/>
                  </a:lnTo>
                  <a:lnTo>
                    <a:pt x="9609455" y="0"/>
                  </a:lnTo>
                  <a:cubicBezTo>
                    <a:pt x="9976739" y="0"/>
                    <a:pt x="10275189" y="291084"/>
                    <a:pt x="10275189" y="650875"/>
                  </a:cubicBezTo>
                  <a:lnTo>
                    <a:pt x="10258299" y="650875"/>
                  </a:lnTo>
                  <a:lnTo>
                    <a:pt x="10275189" y="650875"/>
                  </a:lnTo>
                  <a:lnTo>
                    <a:pt x="10258299" y="650875"/>
                  </a:lnTo>
                  <a:lnTo>
                    <a:pt x="10275189" y="650875"/>
                  </a:lnTo>
                  <a:cubicBezTo>
                    <a:pt x="10275189" y="1010793"/>
                    <a:pt x="9976739" y="1301750"/>
                    <a:pt x="9609455" y="1301750"/>
                  </a:cubicBezTo>
                  <a:lnTo>
                    <a:pt x="9609455" y="1284859"/>
                  </a:lnTo>
                  <a:lnTo>
                    <a:pt x="9609455" y="1301750"/>
                  </a:lnTo>
                  <a:lnTo>
                    <a:pt x="665734" y="1301750"/>
                  </a:lnTo>
                  <a:lnTo>
                    <a:pt x="665734" y="1284859"/>
                  </a:lnTo>
                  <a:lnTo>
                    <a:pt x="665734" y="1301750"/>
                  </a:lnTo>
                  <a:cubicBezTo>
                    <a:pt x="298450" y="1301877"/>
                    <a:pt x="0" y="1010793"/>
                    <a:pt x="0" y="650875"/>
                  </a:cubicBezTo>
                  <a:lnTo>
                    <a:pt x="16891" y="650875"/>
                  </a:lnTo>
                  <a:lnTo>
                    <a:pt x="0" y="650875"/>
                  </a:lnTo>
                  <a:moveTo>
                    <a:pt x="33909" y="650875"/>
                  </a:moveTo>
                  <a:lnTo>
                    <a:pt x="16891" y="650875"/>
                  </a:lnTo>
                  <a:lnTo>
                    <a:pt x="33909" y="650875"/>
                  </a:lnTo>
                  <a:cubicBezTo>
                    <a:pt x="33909" y="991235"/>
                    <a:pt x="316484" y="1267968"/>
                    <a:pt x="665734" y="1267968"/>
                  </a:cubicBezTo>
                  <a:lnTo>
                    <a:pt x="9609455" y="1267968"/>
                  </a:lnTo>
                  <a:cubicBezTo>
                    <a:pt x="9958832" y="1267968"/>
                    <a:pt x="10241280" y="991362"/>
                    <a:pt x="10241280" y="650875"/>
                  </a:cubicBezTo>
                  <a:cubicBezTo>
                    <a:pt x="10241280" y="310515"/>
                    <a:pt x="9958705" y="33782"/>
                    <a:pt x="9609455" y="33782"/>
                  </a:cubicBezTo>
                  <a:lnTo>
                    <a:pt x="665734" y="33782"/>
                  </a:lnTo>
                  <a:lnTo>
                    <a:pt x="665734" y="16891"/>
                  </a:lnTo>
                  <a:lnTo>
                    <a:pt x="665734" y="33909"/>
                  </a:lnTo>
                  <a:cubicBezTo>
                    <a:pt x="316357" y="33909"/>
                    <a:pt x="33909" y="310515"/>
                    <a:pt x="33909" y="650875"/>
                  </a:cubicBez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144000" y="7132320"/>
            <a:ext cx="7680960" cy="950976"/>
            <a:chOff x="0" y="0"/>
            <a:chExt cx="10241280" cy="126796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24128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7379" r="0" b="-10737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0241280" cy="13155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Limitations &amp; Future Work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14400" y="9692640"/>
            <a:ext cx="7315200" cy="457200"/>
            <a:chOff x="0" y="0"/>
            <a:chExt cx="9753600" cy="6096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200: Applied Statistical Analysis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058400" y="9692640"/>
            <a:ext cx="7315200" cy="457200"/>
            <a:chOff x="0" y="0"/>
            <a:chExt cx="9753600" cy="6096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April 2026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65760"/>
            <a:ext cx="7315200" cy="457200"/>
            <a:chOff x="0" y="0"/>
            <a:chExt cx="97536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200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58400" y="36576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 8 Final Report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2377440"/>
            <a:ext cx="8229600" cy="1554480"/>
            <a:chOff x="0" y="0"/>
            <a:chExt cx="10972800" cy="2072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56" r="0" b="-5315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7280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2D2D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Introduction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4937760"/>
            <a:ext cx="8229600" cy="821251"/>
            <a:chOff x="0" y="0"/>
            <a:chExt cx="10972800" cy="10950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1095002"/>
            </a:xfrm>
            <a:custGeom>
              <a:avLst/>
              <a:gdLst/>
              <a:ahLst/>
              <a:cxnLst/>
              <a:rect r="r" b="b" t="t" l="l"/>
              <a:pathLst>
                <a:path h="109500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95002"/>
                  </a:lnTo>
                  <a:lnTo>
                    <a:pt x="0" y="10950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718" r="0" b="-13979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10972800" cy="1180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19"/>
                </a:lnSpc>
              </a:pPr>
              <a:r>
                <a:rPr lang="en-US" sz="4099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Research Question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5669280"/>
            <a:ext cx="8229600" cy="1280160"/>
            <a:chOff x="0" y="0"/>
            <a:chExt cx="10972800" cy="17068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0972800" cy="1764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b="true" sz="2999" i="true">
                  <a:solidFill>
                    <a:srgbClr val="2D2D2D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Has crude oil price volatility significantly changed</a:t>
              </a:r>
            </a:p>
            <a:p>
              <a:pPr algn="l">
                <a:lnSpc>
                  <a:spcPts val="3599"/>
                </a:lnSpc>
              </a:pPr>
              <a:r>
                <a:rPr lang="en-US" b="true" sz="2999" i="true">
                  <a:solidFill>
                    <a:srgbClr val="2D2D2D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across decades from 1970 to 2026?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92640" y="2194560"/>
            <a:ext cx="7863840" cy="6400800"/>
            <a:chOff x="0" y="0"/>
            <a:chExt cx="10485120" cy="853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85120" cy="8534400"/>
            </a:xfrm>
            <a:custGeom>
              <a:avLst/>
              <a:gdLst/>
              <a:ahLst/>
              <a:cxnLst/>
              <a:rect r="r" b="b" t="t" l="l"/>
              <a:pathLst>
                <a:path h="85344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413230" y="2194560"/>
            <a:ext cx="7132320" cy="744382"/>
            <a:chOff x="0" y="0"/>
            <a:chExt cx="9509760" cy="99250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509760" cy="992509"/>
            </a:xfrm>
            <a:custGeom>
              <a:avLst/>
              <a:gdLst/>
              <a:ahLst/>
              <a:cxnLst/>
              <a:rect r="r" b="b" t="t" l="l"/>
              <a:pathLst>
                <a:path h="992509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992509"/>
                  </a:lnTo>
                  <a:lnTo>
                    <a:pt x="0" y="9925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702" r="0" b="-12969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76200"/>
              <a:ext cx="9509760" cy="106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439"/>
                </a:lnSpc>
              </a:pPr>
              <a:r>
                <a:rPr lang="en-US" sz="3699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Study Scope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058400" y="2929789"/>
            <a:ext cx="7132320" cy="495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2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  675 monthly observations (1970–2026)</a:t>
            </a: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3959"/>
              </a:lnSpc>
            </a:pPr>
            <a:r>
              <a:rPr lang="en-US" sz="32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Crude oil price in USD/barrel</a:t>
            </a: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3959"/>
              </a:lnSpc>
            </a:pPr>
            <a:r>
              <a:rPr lang="en-US" sz="32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H0: No significant volatility change</a:t>
            </a: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3959"/>
              </a:lnSpc>
            </a:pPr>
            <a:r>
              <a:rPr lang="en-US" sz="32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H1: Significant volatility shift exists</a:t>
            </a:r>
          </a:p>
          <a:p>
            <a:pPr algn="l">
              <a:lnSpc>
                <a:spcPts val="3959"/>
              </a:lnSpc>
            </a:pPr>
          </a:p>
          <a:p>
            <a:pPr algn="l">
              <a:lnSpc>
                <a:spcPts val="3959"/>
              </a:lnSpc>
            </a:pPr>
            <a:r>
              <a:rPr lang="en-US" sz="3299">
                <a:solidFill>
                  <a:srgbClr val="2D2D2D"/>
                </a:solidFill>
                <a:latin typeface="DM Sans"/>
                <a:ea typeface="DM Sans"/>
                <a:cs typeface="DM Sans"/>
                <a:sym typeface="DM Sans"/>
              </a:rPr>
              <a:t>Multi-method statistical framework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14400" y="9692640"/>
            <a:ext cx="7315200" cy="457200"/>
            <a:chOff x="0" y="0"/>
            <a:chExt cx="9753600" cy="609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200: Applied Statistical Analysis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58400" y="9692640"/>
            <a:ext cx="7315200" cy="457200"/>
            <a:chOff x="0" y="0"/>
            <a:chExt cx="9753600" cy="609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April 2026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63040" y="-914400"/>
            <a:ext cx="6400800" cy="6400800"/>
            <a:chOff x="0" y="0"/>
            <a:chExt cx="8534400" cy="85344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85344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534400"/>
                  </a:lnTo>
                  <a:lnTo>
                    <a:pt x="0" y="853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80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65760"/>
            <a:ext cx="7315200" cy="457200"/>
            <a:chOff x="0" y="0"/>
            <a:chExt cx="97536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200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0" y="365760"/>
            <a:ext cx="7315200" cy="457200"/>
            <a:chOff x="0" y="0"/>
            <a:chExt cx="9753600" cy="609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 8 Final Report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1005840"/>
            <a:ext cx="16459200" cy="1463040"/>
            <a:chOff x="0" y="0"/>
            <a:chExt cx="21945600" cy="19507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94560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2D2D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Dataset &amp; EDA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1703" y="2730503"/>
            <a:ext cx="5237483" cy="2768603"/>
            <a:chOff x="0" y="0"/>
            <a:chExt cx="6983311" cy="36914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69494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2D2D2D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83222" cy="3691382"/>
            </a:xfrm>
            <a:custGeom>
              <a:avLst/>
              <a:gdLst/>
              <a:ahLst/>
              <a:cxnLst/>
              <a:rect r="r" b="b" t="t" l="l"/>
              <a:pathLst>
                <a:path h="3691382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3674491"/>
                  </a:lnTo>
                  <a:cubicBezTo>
                    <a:pt x="6983222" y="3683889"/>
                    <a:pt x="6975602" y="3691382"/>
                    <a:pt x="696633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6966331" y="3657600"/>
                  </a:lnTo>
                  <a:lnTo>
                    <a:pt x="6966331" y="3674491"/>
                  </a:lnTo>
                  <a:lnTo>
                    <a:pt x="6949440" y="3674491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2834640"/>
            <a:ext cx="5212080" cy="1371600"/>
            <a:chOff x="0" y="0"/>
            <a:chExt cx="6949440" cy="1828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49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694944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675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4114800"/>
            <a:ext cx="5212080" cy="640080"/>
            <a:chOff x="0" y="0"/>
            <a:chExt cx="6949440" cy="853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49440" cy="853440"/>
            </a:xfrm>
            <a:custGeom>
              <a:avLst/>
              <a:gdLst/>
              <a:ahLst/>
              <a:cxnLst/>
              <a:rect r="r" b="b" t="t" l="l"/>
              <a:pathLst>
                <a:path h="8534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663" r="0" b="-10866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69494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Monthly Records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4400" y="4663440"/>
            <a:ext cx="5212080" cy="548640"/>
            <a:chOff x="0" y="0"/>
            <a:chExt cx="694944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49440" cy="731520"/>
            </a:xfrm>
            <a:custGeom>
              <a:avLst/>
              <a:gdLst/>
              <a:ahLst/>
              <a:cxnLst/>
              <a:rect r="r" b="b" t="t" l="l"/>
              <a:pathLst>
                <a:path h="7315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949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Jan 1970 – Jan 2026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70983" y="2730503"/>
            <a:ext cx="5237483" cy="2768603"/>
            <a:chOff x="0" y="0"/>
            <a:chExt cx="6983311" cy="36914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69494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2D2D2D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983222" cy="3691382"/>
            </a:xfrm>
            <a:custGeom>
              <a:avLst/>
              <a:gdLst/>
              <a:ahLst/>
              <a:cxnLst/>
              <a:rect r="r" b="b" t="t" l="l"/>
              <a:pathLst>
                <a:path h="3691382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3674491"/>
                  </a:lnTo>
                  <a:cubicBezTo>
                    <a:pt x="6983222" y="3683889"/>
                    <a:pt x="6975602" y="3691382"/>
                    <a:pt x="696633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6966331" y="3657600"/>
                  </a:lnTo>
                  <a:lnTo>
                    <a:pt x="6966331" y="3674491"/>
                  </a:lnTo>
                  <a:lnTo>
                    <a:pt x="6949440" y="3674491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583680" y="2834640"/>
            <a:ext cx="5212080" cy="1371600"/>
            <a:chOff x="0" y="0"/>
            <a:chExt cx="6949440" cy="1828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49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694944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$1.80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583680" y="4114800"/>
            <a:ext cx="5212080" cy="640080"/>
            <a:chOff x="0" y="0"/>
            <a:chExt cx="6949440" cy="8534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949440" cy="853440"/>
            </a:xfrm>
            <a:custGeom>
              <a:avLst/>
              <a:gdLst/>
              <a:ahLst/>
              <a:cxnLst/>
              <a:rect r="r" b="b" t="t" l="l"/>
              <a:pathLst>
                <a:path h="8534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663" r="0" b="-10866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69494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 Price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583680" y="4663440"/>
            <a:ext cx="5212080" cy="548640"/>
            <a:chOff x="0" y="0"/>
            <a:chExt cx="694944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49440" cy="731520"/>
            </a:xfrm>
            <a:custGeom>
              <a:avLst/>
              <a:gdLst/>
              <a:ahLst/>
              <a:cxnLst/>
              <a:rect r="r" b="b" t="t" l="l"/>
              <a:pathLst>
                <a:path h="7315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949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January 1970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240263" y="2730503"/>
            <a:ext cx="5237483" cy="2768603"/>
            <a:chOff x="0" y="0"/>
            <a:chExt cx="6983311" cy="369147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69494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2D2D2D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983222" cy="3691382"/>
            </a:xfrm>
            <a:custGeom>
              <a:avLst/>
              <a:gdLst/>
              <a:ahLst/>
              <a:cxnLst/>
              <a:rect r="r" b="b" t="t" l="l"/>
              <a:pathLst>
                <a:path h="3691382" w="6983222">
                  <a:moveTo>
                    <a:pt x="16891" y="0"/>
                  </a:moveTo>
                  <a:lnTo>
                    <a:pt x="6966331" y="0"/>
                  </a:lnTo>
                  <a:cubicBezTo>
                    <a:pt x="6975729" y="0"/>
                    <a:pt x="6983222" y="7620"/>
                    <a:pt x="6983222" y="16891"/>
                  </a:cubicBezTo>
                  <a:lnTo>
                    <a:pt x="6983222" y="3674491"/>
                  </a:lnTo>
                  <a:cubicBezTo>
                    <a:pt x="6983222" y="3683889"/>
                    <a:pt x="6975602" y="3691382"/>
                    <a:pt x="6966331" y="3691382"/>
                  </a:cubicBezTo>
                  <a:lnTo>
                    <a:pt x="16891" y="3691382"/>
                  </a:lnTo>
                  <a:cubicBezTo>
                    <a:pt x="7493" y="3691382"/>
                    <a:pt x="0" y="3683762"/>
                    <a:pt x="0" y="3674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74491"/>
                  </a:lnTo>
                  <a:lnTo>
                    <a:pt x="16891" y="3674491"/>
                  </a:lnTo>
                  <a:lnTo>
                    <a:pt x="16891" y="3657600"/>
                  </a:lnTo>
                  <a:lnTo>
                    <a:pt x="6966331" y="3657600"/>
                  </a:lnTo>
                  <a:lnTo>
                    <a:pt x="6966331" y="3674491"/>
                  </a:lnTo>
                  <a:lnTo>
                    <a:pt x="6949440" y="3674491"/>
                  </a:lnTo>
                  <a:lnTo>
                    <a:pt x="6949440" y="16891"/>
                  </a:lnTo>
                  <a:lnTo>
                    <a:pt x="6966331" y="16891"/>
                  </a:lnTo>
                  <a:lnTo>
                    <a:pt x="6966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252960" y="2834640"/>
            <a:ext cx="5212080" cy="1371600"/>
            <a:chOff x="0" y="0"/>
            <a:chExt cx="6949440" cy="1828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9494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043" r="0" b="-2404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6949440" cy="185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80"/>
                </a:lnSpc>
              </a:pPr>
              <a:r>
                <a:rPr lang="en-US" sz="6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$133.88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252960" y="4114800"/>
            <a:ext cx="5212080" cy="640080"/>
            <a:chOff x="0" y="0"/>
            <a:chExt cx="6949440" cy="853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949440" cy="853440"/>
            </a:xfrm>
            <a:custGeom>
              <a:avLst/>
              <a:gdLst/>
              <a:ahLst/>
              <a:cxnLst/>
              <a:rect r="r" b="b" t="t" l="l"/>
              <a:pathLst>
                <a:path h="8534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663" r="0" b="-10866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69494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Max Price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252960" y="4663440"/>
            <a:ext cx="5212080" cy="548640"/>
            <a:chOff x="0" y="0"/>
            <a:chExt cx="694944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949440" cy="731520"/>
            </a:xfrm>
            <a:custGeom>
              <a:avLst/>
              <a:gdLst/>
              <a:ahLst/>
              <a:cxnLst/>
              <a:rect r="r" b="b" t="t" l="l"/>
              <a:pathLst>
                <a:path h="7315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5107" r="0" b="-13510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69494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June 2008 (GFC Peak)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14400" y="5852160"/>
            <a:ext cx="16459200" cy="640080"/>
            <a:chOff x="0" y="0"/>
            <a:chExt cx="21945600" cy="8534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Volatility by Decade — Key Pattern</a:t>
              </a:r>
            </a:p>
          </p:txBody>
        </p:sp>
      </p:grpSp>
      <p:graphicFrame>
        <p:nvGraphicFramePr>
          <p:cNvPr name="Table 52" id="52"/>
          <p:cNvGraphicFramePr>
            <a:graphicFrameLocks noGrp="true"/>
          </p:cNvGraphicFramePr>
          <p:nvPr/>
        </p:nvGraphicFramePr>
        <p:xfrm>
          <a:off x="914400" y="6583680"/>
          <a:ext cx="16433800" cy="2514600"/>
        </p:xfrm>
        <a:graphic>
          <a:graphicData uri="http://schemas.openxmlformats.org/drawingml/2006/table">
            <a:tbl>
              <a:tblPr/>
              <a:tblGrid>
                <a:gridCol w="4017711"/>
                <a:gridCol w="4562144"/>
                <a:gridCol w="2747368"/>
                <a:gridCol w="5106577"/>
              </a:tblGrid>
              <a:tr h="838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Decade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Mean (USD/bbl)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Pattern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2D2D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1970s–1990s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2D2D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$1.30 – $2.19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2D2D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2D2D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 Volatility Era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2D2D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2000s–2020s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2D2D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$7.43 – $9.14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2D2D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2D2D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High Volatility Era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2"/>
                    </a:solidFill>
                  </a:tcPr>
                </a:tc>
              </a:tr>
            </a:tbl>
          </a:graphicData>
        </a:graphic>
      </p:graphicFrame>
      <p:grpSp>
        <p:nvGrpSpPr>
          <p:cNvPr name="Group 53" id="53"/>
          <p:cNvGrpSpPr/>
          <p:nvPr/>
        </p:nvGrpSpPr>
        <p:grpSpPr>
          <a:xfrm rot="0">
            <a:off x="914400" y="9692640"/>
            <a:ext cx="7315200" cy="457200"/>
            <a:chOff x="0" y="0"/>
            <a:chExt cx="9753600" cy="609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200: Applied Statistical Analysis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058400" y="9692640"/>
            <a:ext cx="7315200" cy="457200"/>
            <a:chOff x="0" y="0"/>
            <a:chExt cx="9753600" cy="609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April 2026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65760"/>
            <a:ext cx="7315200" cy="457200"/>
            <a:chOff x="0" y="0"/>
            <a:chExt cx="97536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200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58400" y="36576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 8 Final Report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548640"/>
            <a:ext cx="16459200" cy="1371600"/>
            <a:chOff x="0" y="0"/>
            <a:chExt cx="2194560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9456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2D2D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Statistical Analysis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920240"/>
            <a:ext cx="10972800" cy="731520"/>
            <a:chOff x="0" y="0"/>
            <a:chExt cx="14630400" cy="975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975360"/>
            </a:xfrm>
            <a:custGeom>
              <a:avLst/>
              <a:gdLst/>
              <a:ahLst/>
              <a:cxnLst/>
              <a:rect r="r" b="b" t="t" l="l"/>
              <a:pathLst>
                <a:path h="97536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46304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Hypothesis Testing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2926080"/>
            <a:ext cx="8229600" cy="2468880"/>
            <a:chOff x="0" y="0"/>
            <a:chExt cx="10972800" cy="3291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01703" y="2913383"/>
            <a:ext cx="171707" cy="2494283"/>
            <a:chOff x="0" y="0"/>
            <a:chExt cx="228943" cy="33257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195072" cy="3291840"/>
            </a:xfrm>
            <a:custGeom>
              <a:avLst/>
              <a:gdLst/>
              <a:ahLst/>
              <a:cxnLst/>
              <a:rect r="r" b="b" t="t" l="l"/>
              <a:pathLst>
                <a:path h="32918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D2D2D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8854" cy="3325622"/>
            </a:xfrm>
            <a:custGeom>
              <a:avLst/>
              <a:gdLst/>
              <a:ahLst/>
              <a:cxnLst/>
              <a:rect r="r" b="b" t="t" l="l"/>
              <a:pathLst>
                <a:path h="332562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3308731"/>
                  </a:lnTo>
                  <a:cubicBezTo>
                    <a:pt x="228854" y="3318129"/>
                    <a:pt x="221234" y="3325622"/>
                    <a:pt x="211963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211963" y="3291840"/>
                  </a:lnTo>
                  <a:lnTo>
                    <a:pt x="211963" y="3308731"/>
                  </a:lnTo>
                  <a:lnTo>
                    <a:pt x="195072" y="330873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43584" y="3108960"/>
            <a:ext cx="7680960" cy="548640"/>
            <a:chOff x="0" y="0"/>
            <a:chExt cx="10241280" cy="731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241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One-Way ANOVA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43584" y="3657600"/>
            <a:ext cx="7680960" cy="548640"/>
            <a:chOff x="0" y="0"/>
            <a:chExt cx="1024128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02412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2D2D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 = 63.42  |  p &lt; 0.001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43584" y="4206240"/>
            <a:ext cx="4572000" cy="512064"/>
            <a:chOff x="0" y="0"/>
            <a:chExt cx="6096000" cy="6827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6096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2AA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REJECT H0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43584" y="4718304"/>
            <a:ext cx="7680960" cy="512064"/>
            <a:chOff x="0" y="0"/>
            <a:chExt cx="10241280" cy="6827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η² = 0.33 (Large Effect)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692640" y="2926080"/>
            <a:ext cx="8229600" cy="2468880"/>
            <a:chOff x="0" y="0"/>
            <a:chExt cx="10972800" cy="3291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79943" y="2913383"/>
            <a:ext cx="171707" cy="2494283"/>
            <a:chOff x="0" y="0"/>
            <a:chExt cx="228943" cy="332571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6891" y="16891"/>
              <a:ext cx="195072" cy="3291840"/>
            </a:xfrm>
            <a:custGeom>
              <a:avLst/>
              <a:gdLst/>
              <a:ahLst/>
              <a:cxnLst/>
              <a:rect r="r" b="b" t="t" l="l"/>
              <a:pathLst>
                <a:path h="32918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D2D2D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8854" cy="3325622"/>
            </a:xfrm>
            <a:custGeom>
              <a:avLst/>
              <a:gdLst/>
              <a:ahLst/>
              <a:cxnLst/>
              <a:rect r="r" b="b" t="t" l="l"/>
              <a:pathLst>
                <a:path h="332562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3308731"/>
                  </a:lnTo>
                  <a:cubicBezTo>
                    <a:pt x="228854" y="3318129"/>
                    <a:pt x="221234" y="3325622"/>
                    <a:pt x="211963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211963" y="3291840"/>
                  </a:lnTo>
                  <a:lnTo>
                    <a:pt x="211963" y="3308731"/>
                  </a:lnTo>
                  <a:lnTo>
                    <a:pt x="195072" y="330873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021824" y="3108960"/>
            <a:ext cx="7680960" cy="548640"/>
            <a:chOff x="0" y="0"/>
            <a:chExt cx="1024128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0241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Kruskal-Wallis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021824" y="3657600"/>
            <a:ext cx="7680960" cy="548640"/>
            <a:chOff x="0" y="0"/>
            <a:chExt cx="1024128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02412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2D2D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 = 390.58  |  p &lt; 0.001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021824" y="4206240"/>
            <a:ext cx="4572000" cy="512064"/>
            <a:chOff x="0" y="0"/>
            <a:chExt cx="6096000" cy="68275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6096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2AA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REJECT H0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021824" y="4718304"/>
            <a:ext cx="7680960" cy="512064"/>
            <a:chOff x="0" y="0"/>
            <a:chExt cx="10241280" cy="68275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Non-parametric confirmation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14400" y="5760720"/>
            <a:ext cx="8229600" cy="2468880"/>
            <a:chOff x="0" y="0"/>
            <a:chExt cx="10972800" cy="32918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01703" y="5748023"/>
            <a:ext cx="171707" cy="2494283"/>
            <a:chOff x="0" y="0"/>
            <a:chExt cx="228943" cy="332571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95072" cy="3291840"/>
            </a:xfrm>
            <a:custGeom>
              <a:avLst/>
              <a:gdLst/>
              <a:ahLst/>
              <a:cxnLst/>
              <a:rect r="r" b="b" t="t" l="l"/>
              <a:pathLst>
                <a:path h="32918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D2D2D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8854" cy="3325622"/>
            </a:xfrm>
            <a:custGeom>
              <a:avLst/>
              <a:gdLst/>
              <a:ahLst/>
              <a:cxnLst/>
              <a:rect r="r" b="b" t="t" l="l"/>
              <a:pathLst>
                <a:path h="332562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3308731"/>
                  </a:lnTo>
                  <a:cubicBezTo>
                    <a:pt x="228854" y="3318129"/>
                    <a:pt x="221234" y="3325622"/>
                    <a:pt x="211963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211963" y="3291840"/>
                  </a:lnTo>
                  <a:lnTo>
                    <a:pt x="211963" y="3308731"/>
                  </a:lnTo>
                  <a:lnTo>
                    <a:pt x="195072" y="330873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43584" y="5943600"/>
            <a:ext cx="7680960" cy="548640"/>
            <a:chOff x="0" y="0"/>
            <a:chExt cx="1024128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0241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OLS Regression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43584" y="6492240"/>
            <a:ext cx="7680960" cy="548640"/>
            <a:chOff x="0" y="0"/>
            <a:chExt cx="1024128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102412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2D2D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R² = 0.30  |  p &lt; 0.001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43584" y="7040880"/>
            <a:ext cx="4572000" cy="512064"/>
            <a:chOff x="0" y="0"/>
            <a:chExt cx="6096000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6096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2AA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SIGNIFICANT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43584" y="7552944"/>
            <a:ext cx="7680960" cy="512064"/>
            <a:chOff x="0" y="0"/>
            <a:chExt cx="10241280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+0.185 USD/bbl per year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92640" y="5760720"/>
            <a:ext cx="8229600" cy="2468880"/>
            <a:chOff x="0" y="0"/>
            <a:chExt cx="10972800" cy="32918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9728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679943" y="5748023"/>
            <a:ext cx="171707" cy="2494283"/>
            <a:chOff x="0" y="0"/>
            <a:chExt cx="228943" cy="332571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16891" y="16891"/>
              <a:ext cx="195072" cy="3291840"/>
            </a:xfrm>
            <a:custGeom>
              <a:avLst/>
              <a:gdLst/>
              <a:ahLst/>
              <a:cxnLst/>
              <a:rect r="r" b="b" t="t" l="l"/>
              <a:pathLst>
                <a:path h="329184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D2D2D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8854" cy="3325622"/>
            </a:xfrm>
            <a:custGeom>
              <a:avLst/>
              <a:gdLst/>
              <a:ahLst/>
              <a:cxnLst/>
              <a:rect r="r" b="b" t="t" l="l"/>
              <a:pathLst>
                <a:path h="332562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3308731"/>
                  </a:lnTo>
                  <a:cubicBezTo>
                    <a:pt x="228854" y="3318129"/>
                    <a:pt x="221234" y="3325622"/>
                    <a:pt x="211963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211963" y="3291840"/>
                  </a:lnTo>
                  <a:lnTo>
                    <a:pt x="211963" y="3308731"/>
                  </a:lnTo>
                  <a:lnTo>
                    <a:pt x="195072" y="330873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021824" y="5943600"/>
            <a:ext cx="7680960" cy="548640"/>
            <a:chOff x="0" y="0"/>
            <a:chExt cx="1024128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02412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Tukey HSD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021824" y="6492240"/>
            <a:ext cx="7680960" cy="548640"/>
            <a:chOff x="0" y="0"/>
            <a:chExt cx="10241280" cy="7315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241280" cy="731520"/>
            </a:xfrm>
            <a:custGeom>
              <a:avLst/>
              <a:gdLst/>
              <a:ahLst/>
              <a:cxnLst/>
              <a:rect r="r" b="b" t="t" l="l"/>
              <a:pathLst>
                <a:path h="7315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1024128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2D2D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9/15 pairs  |  p &lt; 0.001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021824" y="7040880"/>
            <a:ext cx="4572000" cy="512064"/>
            <a:chOff x="0" y="0"/>
            <a:chExt cx="6096000" cy="68275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096000" cy="682752"/>
            </a:xfrm>
            <a:custGeom>
              <a:avLst/>
              <a:gdLst/>
              <a:ahLst/>
              <a:cxnLst/>
              <a:rect r="r" b="b" t="t" l="l"/>
              <a:pathLst>
                <a:path h="682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60960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2AA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SIGNIFICANT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021824" y="7552944"/>
            <a:ext cx="7680960" cy="512064"/>
            <a:chOff x="0" y="0"/>
            <a:chExt cx="10241280" cy="68275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241280" cy="682752"/>
            </a:xfrm>
            <a:custGeom>
              <a:avLst/>
              <a:gdLst/>
              <a:ahLst/>
              <a:cxnLst/>
              <a:rect r="r" b="b" t="t" l="l"/>
              <a:pathLst>
                <a:path h="68275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102412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cross-cluster pairs differ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14400" y="9692640"/>
            <a:ext cx="7315200" cy="457200"/>
            <a:chOff x="0" y="0"/>
            <a:chExt cx="9753600" cy="6096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200: Applied Statistical Analysis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058400" y="9692640"/>
            <a:ext cx="7315200" cy="457200"/>
            <a:chOff x="0" y="0"/>
            <a:chExt cx="9753600" cy="6096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April 2026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65760"/>
            <a:ext cx="7315200" cy="457200"/>
            <a:chOff x="0" y="0"/>
            <a:chExt cx="97536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200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58400" y="36576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 8 Final Report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92640" y="914400"/>
            <a:ext cx="7863840" cy="2585889"/>
            <a:chOff x="0" y="0"/>
            <a:chExt cx="10485120" cy="34478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85120" cy="3447851"/>
            </a:xfrm>
            <a:custGeom>
              <a:avLst/>
              <a:gdLst/>
              <a:ahLst/>
              <a:cxnLst/>
              <a:rect r="r" b="b" t="t" l="l"/>
              <a:pathLst>
                <a:path h="3447851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3447851"/>
                  </a:lnTo>
                  <a:lnTo>
                    <a:pt x="0" y="34478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49" r="0" b="-876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0485120" cy="34764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2D2D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Two Volatility</a:t>
              </a:r>
            </a:p>
            <a:p>
              <a:pPr algn="l">
                <a:lnSpc>
                  <a:spcPts val="8640"/>
                </a:lnSpc>
              </a:pPr>
              <a:r>
                <a:rPr lang="en-US" sz="7200" b="true">
                  <a:solidFill>
                    <a:srgbClr val="2D2D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Regimes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92640" y="3657600"/>
            <a:ext cx="7863840" cy="731520"/>
            <a:chOff x="0" y="0"/>
            <a:chExt cx="10485120" cy="975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85120" cy="975360"/>
            </a:xfrm>
            <a:custGeom>
              <a:avLst/>
              <a:gdLst/>
              <a:ahLst/>
              <a:cxnLst/>
              <a:rect r="r" b="b" t="t" l="l"/>
              <a:pathLst>
                <a:path h="9753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64" r="0" b="-15946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48512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44444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Structural Break ~Year 2000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92640" y="4480560"/>
            <a:ext cx="7863840" cy="1280160"/>
            <a:chOff x="0" y="0"/>
            <a:chExt cx="10485120" cy="17068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851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3" r="0" b="-6969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48512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Tukey HSD confirmed 9/15 cross-cluster pairs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are statistically significant (p &lt; 0.001)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1280160"/>
            <a:ext cx="8229600" cy="640080"/>
            <a:chOff x="0" y="0"/>
            <a:chExt cx="1097280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09728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 Volatility Era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8047" y="2005327"/>
            <a:ext cx="8242297" cy="927097"/>
            <a:chOff x="0" y="0"/>
            <a:chExt cx="10989729" cy="12361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8509" y="8509"/>
              <a:ext cx="10972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8E8E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89818" cy="1236218"/>
            </a:xfrm>
            <a:custGeom>
              <a:avLst/>
              <a:gdLst/>
              <a:ahLst/>
              <a:cxnLst/>
              <a:rect r="r" b="b" t="t" l="l"/>
              <a:pathLst>
                <a:path h="1236218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1227709"/>
                  </a:lnTo>
                  <a:cubicBezTo>
                    <a:pt x="10989818" y="1232408"/>
                    <a:pt x="10986008" y="1236218"/>
                    <a:pt x="10981309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10981309" y="1219200"/>
                  </a:lnTo>
                  <a:lnTo>
                    <a:pt x="10981309" y="1227709"/>
                  </a:lnTo>
                  <a:lnTo>
                    <a:pt x="10972800" y="1227709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80160" y="2011680"/>
            <a:ext cx="2743200" cy="914400"/>
            <a:chOff x="0" y="0"/>
            <a:chExt cx="3657600" cy="121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57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36576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D2D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1970s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023360" y="2011680"/>
            <a:ext cx="4754880" cy="914400"/>
            <a:chOff x="0" y="0"/>
            <a:chExt cx="633984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3398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Mean: $1.30/bbl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08047" y="3102607"/>
            <a:ext cx="8242297" cy="927097"/>
            <a:chOff x="0" y="0"/>
            <a:chExt cx="10989729" cy="123612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8509" y="8509"/>
              <a:ext cx="10972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8E8E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89818" cy="1236218"/>
            </a:xfrm>
            <a:custGeom>
              <a:avLst/>
              <a:gdLst/>
              <a:ahLst/>
              <a:cxnLst/>
              <a:rect r="r" b="b" t="t" l="l"/>
              <a:pathLst>
                <a:path h="1236218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1227709"/>
                  </a:lnTo>
                  <a:cubicBezTo>
                    <a:pt x="10989818" y="1232408"/>
                    <a:pt x="10986008" y="1236218"/>
                    <a:pt x="10981309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10981309" y="1219200"/>
                  </a:lnTo>
                  <a:lnTo>
                    <a:pt x="10981309" y="1227709"/>
                  </a:lnTo>
                  <a:lnTo>
                    <a:pt x="10972800" y="1227709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80160" y="3108960"/>
            <a:ext cx="2743200" cy="914400"/>
            <a:chOff x="0" y="0"/>
            <a:chExt cx="3657600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57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36576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D2D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1980s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023360" y="3108960"/>
            <a:ext cx="4754880" cy="914400"/>
            <a:chOff x="0" y="0"/>
            <a:chExt cx="6339840" cy="121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3398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Mean: $2.10/bbl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08047" y="4199887"/>
            <a:ext cx="8242297" cy="927097"/>
            <a:chOff x="0" y="0"/>
            <a:chExt cx="10989729" cy="123612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8509" y="8509"/>
              <a:ext cx="10972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8E8E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89818" cy="1236218"/>
            </a:xfrm>
            <a:custGeom>
              <a:avLst/>
              <a:gdLst/>
              <a:ahLst/>
              <a:cxnLst/>
              <a:rect r="r" b="b" t="t" l="l"/>
              <a:pathLst>
                <a:path h="1236218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1227709"/>
                  </a:lnTo>
                  <a:cubicBezTo>
                    <a:pt x="10989818" y="1232408"/>
                    <a:pt x="10986008" y="1236218"/>
                    <a:pt x="10981309" y="1236218"/>
                  </a:cubicBezTo>
                  <a:lnTo>
                    <a:pt x="8509" y="1236218"/>
                  </a:lnTo>
                  <a:cubicBezTo>
                    <a:pt x="3810" y="1236218"/>
                    <a:pt x="0" y="1232408"/>
                    <a:pt x="0" y="12277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227709"/>
                  </a:lnTo>
                  <a:lnTo>
                    <a:pt x="8509" y="1227709"/>
                  </a:lnTo>
                  <a:lnTo>
                    <a:pt x="8509" y="1219200"/>
                  </a:lnTo>
                  <a:lnTo>
                    <a:pt x="10981309" y="1219200"/>
                  </a:lnTo>
                  <a:lnTo>
                    <a:pt x="10981309" y="1227709"/>
                  </a:lnTo>
                  <a:lnTo>
                    <a:pt x="10972800" y="1227709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CCCCCC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80160" y="4206240"/>
            <a:ext cx="2743200" cy="914400"/>
            <a:chOff x="0" y="0"/>
            <a:chExt cx="3657600" cy="1219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657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36576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D2D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1990s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023360" y="4206240"/>
            <a:ext cx="4754880" cy="914400"/>
            <a:chOff x="0" y="0"/>
            <a:chExt cx="6339840" cy="1219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3398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Mean: $2.19/bbl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14400" y="5394960"/>
            <a:ext cx="8229600" cy="640080"/>
            <a:chOff x="0" y="0"/>
            <a:chExt cx="10972800" cy="8534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109728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 Volatility Era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01703" y="6113783"/>
            <a:ext cx="8255003" cy="939803"/>
            <a:chOff x="0" y="0"/>
            <a:chExt cx="11006671" cy="125307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0972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2D2D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006582" cy="1252984"/>
            </a:xfrm>
            <a:custGeom>
              <a:avLst/>
              <a:gdLst/>
              <a:ahLst/>
              <a:cxnLst/>
              <a:rect r="r" b="b" t="t" l="l"/>
              <a:pathLst>
                <a:path h="125298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236091"/>
                  </a:lnTo>
                  <a:cubicBezTo>
                    <a:pt x="11006582" y="1245489"/>
                    <a:pt x="10998962" y="1252982"/>
                    <a:pt x="1098969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10989691" y="1219200"/>
                  </a:lnTo>
                  <a:lnTo>
                    <a:pt x="10989691" y="1236091"/>
                  </a:lnTo>
                  <a:lnTo>
                    <a:pt x="10972800" y="12360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80160" y="6126480"/>
            <a:ext cx="2743200" cy="914400"/>
            <a:chOff x="0" y="0"/>
            <a:chExt cx="3657600" cy="1219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57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36576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2000s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023360" y="6126480"/>
            <a:ext cx="4754880" cy="914400"/>
            <a:chOff x="0" y="0"/>
            <a:chExt cx="6339840" cy="1219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3398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Mean: $7.67/bbl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01703" y="7211063"/>
            <a:ext cx="8255003" cy="939803"/>
            <a:chOff x="0" y="0"/>
            <a:chExt cx="11006671" cy="125307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0972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2D2D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006582" cy="1252984"/>
            </a:xfrm>
            <a:custGeom>
              <a:avLst/>
              <a:gdLst/>
              <a:ahLst/>
              <a:cxnLst/>
              <a:rect r="r" b="b" t="t" l="l"/>
              <a:pathLst>
                <a:path h="125298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236091"/>
                  </a:lnTo>
                  <a:cubicBezTo>
                    <a:pt x="11006582" y="1245489"/>
                    <a:pt x="10998962" y="1252982"/>
                    <a:pt x="1098969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10989691" y="1219200"/>
                  </a:lnTo>
                  <a:lnTo>
                    <a:pt x="10989691" y="1236091"/>
                  </a:lnTo>
                  <a:lnTo>
                    <a:pt x="10972800" y="12360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80160" y="7223760"/>
            <a:ext cx="2743200" cy="914400"/>
            <a:chOff x="0" y="0"/>
            <a:chExt cx="3657600" cy="1219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657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36576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2010s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023360" y="7223760"/>
            <a:ext cx="4754880" cy="914400"/>
            <a:chOff x="0" y="0"/>
            <a:chExt cx="6339840" cy="12192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63398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Mean: $7.43/bbl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01703" y="8308343"/>
            <a:ext cx="8255003" cy="939803"/>
            <a:chOff x="0" y="0"/>
            <a:chExt cx="11006671" cy="125307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0972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2D2D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006582" cy="1252984"/>
            </a:xfrm>
            <a:custGeom>
              <a:avLst/>
              <a:gdLst/>
              <a:ahLst/>
              <a:cxnLst/>
              <a:rect r="r" b="b" t="t" l="l"/>
              <a:pathLst>
                <a:path h="125298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1236091"/>
                  </a:lnTo>
                  <a:cubicBezTo>
                    <a:pt x="11006582" y="1245489"/>
                    <a:pt x="10998962" y="1252982"/>
                    <a:pt x="10989691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10989691" y="1219200"/>
                  </a:lnTo>
                  <a:lnTo>
                    <a:pt x="10989691" y="1236091"/>
                  </a:lnTo>
                  <a:lnTo>
                    <a:pt x="10972800" y="12360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80160" y="8321040"/>
            <a:ext cx="2743200" cy="914400"/>
            <a:chOff x="0" y="0"/>
            <a:chExt cx="3657600" cy="12192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657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36576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2020s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4023360" y="8321040"/>
            <a:ext cx="4754880" cy="914400"/>
            <a:chOff x="0" y="0"/>
            <a:chExt cx="6339840" cy="12192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3398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633984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Mean: $9.14/bbl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14400" y="9692640"/>
            <a:ext cx="7315200" cy="457200"/>
            <a:chOff x="0" y="0"/>
            <a:chExt cx="9753600" cy="6096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200: Applied Statistical Analysis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058400" y="9692640"/>
            <a:ext cx="7315200" cy="457200"/>
            <a:chOff x="0" y="0"/>
            <a:chExt cx="9753600" cy="6096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April 2026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64640" y="-548640"/>
            <a:ext cx="5120640" cy="5120640"/>
            <a:chOff x="0" y="0"/>
            <a:chExt cx="6827520" cy="682752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6827520" cy="6827520"/>
            </a:xfrm>
            <a:custGeom>
              <a:avLst/>
              <a:gdLst/>
              <a:ahLst/>
              <a:cxnLst/>
              <a:rect r="r" b="b" t="t" l="l"/>
              <a:pathLst>
                <a:path h="68275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6827520"/>
                  </a:lnTo>
                  <a:lnTo>
                    <a:pt x="0" y="6827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85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65760"/>
            <a:ext cx="7315200" cy="457200"/>
            <a:chOff x="0" y="0"/>
            <a:chExt cx="97536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200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0" y="365760"/>
            <a:ext cx="7315200" cy="457200"/>
            <a:chOff x="0" y="0"/>
            <a:chExt cx="9753600" cy="609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 8 Final Report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548640"/>
            <a:ext cx="16459200" cy="1569562"/>
            <a:chOff x="0" y="0"/>
            <a:chExt cx="21945600" cy="209274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2092749"/>
            </a:xfrm>
            <a:custGeom>
              <a:avLst/>
              <a:gdLst/>
              <a:ahLst/>
              <a:cxnLst/>
              <a:rect r="r" b="b" t="t" l="l"/>
              <a:pathLst>
                <a:path h="209274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092749"/>
                  </a:lnTo>
                  <a:lnTo>
                    <a:pt x="0" y="20927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0636" r="0" b="-14802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945600" cy="21308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2D2D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Time Series Decomposition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2194560"/>
            <a:ext cx="16459200" cy="1645920"/>
            <a:chOff x="0" y="0"/>
            <a:chExt cx="21945600" cy="2194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2D2D2D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190957" y="2286000"/>
            <a:ext cx="3657600" cy="1463040"/>
            <a:chOff x="0" y="0"/>
            <a:chExt cx="4876800" cy="1950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768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48768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TREND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120640" y="2286000"/>
            <a:ext cx="11887200" cy="1463040"/>
            <a:chOff x="0" y="0"/>
            <a:chExt cx="15849600" cy="1950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849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158496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structural phases: low (1970–99) → surge (2000–08) → elevated plateau (2009+)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" y="4114800"/>
            <a:ext cx="16459200" cy="1645920"/>
            <a:chOff x="0" y="0"/>
            <a:chExt cx="21945600" cy="21945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190957" y="4206240"/>
            <a:ext cx="3657600" cy="1463040"/>
            <a:chOff x="0" y="0"/>
            <a:chExt cx="4876800" cy="19507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768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48768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D2D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SEASONAL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120640" y="4206240"/>
            <a:ext cx="11887200" cy="1463040"/>
            <a:chOff x="0" y="0"/>
            <a:chExt cx="15849600" cy="19507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849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58496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Minor — higher Q4/Q1 (heating demand). Not the driver of regime changes.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4400" y="6035040"/>
            <a:ext cx="16459200" cy="1645920"/>
            <a:chOff x="0" y="0"/>
            <a:chExt cx="21945600" cy="21945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190957" y="6126480"/>
            <a:ext cx="3657600" cy="1463040"/>
            <a:chOff x="0" y="0"/>
            <a:chExt cx="4876800" cy="19507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8768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48768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2D2D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RESIDUAL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20640" y="6126480"/>
            <a:ext cx="11887200" cy="1463040"/>
            <a:chOff x="0" y="0"/>
            <a:chExt cx="15849600" cy="1950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5849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58496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Extreme spikes: 1973, 1979, 1990, 2008, 2020, 2022 — geopolitical shocks dominate.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14400" y="8229600"/>
            <a:ext cx="16459200" cy="457200"/>
            <a:chOff x="0" y="0"/>
            <a:chExt cx="21945600" cy="609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456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1461" r="0" b="-65146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1945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666666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Multiplicative model used: fluctuation amplitude grows with price level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4400" y="9692640"/>
            <a:ext cx="7315200" cy="457200"/>
            <a:chOff x="0" y="0"/>
            <a:chExt cx="9753600" cy="609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200: Applied Statistical Analysis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058400" y="9692640"/>
            <a:ext cx="7315200" cy="457200"/>
            <a:chOff x="0" y="0"/>
            <a:chExt cx="9753600" cy="6096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April 2026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65760"/>
            <a:ext cx="7315200" cy="457200"/>
            <a:chOff x="0" y="0"/>
            <a:chExt cx="97536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200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58400" y="36576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 8 Final Report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365760"/>
            <a:ext cx="11243607" cy="2430587"/>
            <a:chOff x="0" y="0"/>
            <a:chExt cx="14991476" cy="32407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991476" cy="3240782"/>
            </a:xfrm>
            <a:custGeom>
              <a:avLst/>
              <a:gdLst/>
              <a:ahLst/>
              <a:cxnLst/>
              <a:rect r="r" b="b" t="t" l="l"/>
              <a:pathLst>
                <a:path h="3240782" w="14991476">
                  <a:moveTo>
                    <a:pt x="0" y="0"/>
                  </a:moveTo>
                  <a:lnTo>
                    <a:pt x="14991476" y="0"/>
                  </a:lnTo>
                  <a:lnTo>
                    <a:pt x="14991476" y="3240782"/>
                  </a:lnTo>
                  <a:lnTo>
                    <a:pt x="0" y="32407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25" r="30059" b="874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4991476" cy="32693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59"/>
                </a:lnSpc>
              </a:pPr>
              <a:r>
                <a:rPr lang="en-US" sz="6800" b="true">
                  <a:solidFill>
                    <a:srgbClr val="2D2D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Statistical Modeling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3631" y="2428084"/>
            <a:ext cx="7195969" cy="1224647"/>
            <a:chOff x="0" y="0"/>
            <a:chExt cx="7091406" cy="12068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91406" cy="1206852"/>
            </a:xfrm>
            <a:custGeom>
              <a:avLst/>
              <a:gdLst/>
              <a:ahLst/>
              <a:cxnLst/>
              <a:rect r="r" b="b" t="t" l="l"/>
              <a:pathLst>
                <a:path h="1206852" w="7091406">
                  <a:moveTo>
                    <a:pt x="0" y="0"/>
                  </a:moveTo>
                  <a:lnTo>
                    <a:pt x="7091406" y="0"/>
                  </a:lnTo>
                  <a:lnTo>
                    <a:pt x="7091406" y="1206852"/>
                  </a:lnTo>
                  <a:lnTo>
                    <a:pt x="0" y="12068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750" r="-54733" b="-11756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33350"/>
              <a:ext cx="7091406" cy="1340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99"/>
                </a:lnSpc>
              </a:pPr>
              <a:r>
                <a:rPr lang="en-US" sz="5999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OLS Linear Regression</a:t>
              </a: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390521" y="3652732"/>
          <a:ext cx="9667879" cy="5197538"/>
        </p:xfrm>
        <a:graphic>
          <a:graphicData uri="http://schemas.openxmlformats.org/drawingml/2006/table">
            <a:tbl>
              <a:tblPr/>
              <a:tblGrid>
                <a:gridCol w="3873083"/>
                <a:gridCol w="5794796"/>
              </a:tblGrid>
              <a:tr h="10395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3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Metric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39"/>
                        </a:lnSpc>
                        <a:defRPr/>
                      </a:pPr>
                      <a:r>
                        <a:rPr lang="en-US" sz="26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Value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10395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079"/>
                        </a:lnSpc>
                        <a:defRPr/>
                      </a:pPr>
                      <a:r>
                        <a:rPr lang="en-US" sz="3399">
                          <a:solidFill>
                            <a:srgbClr val="2D2D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Slope (β₁)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39"/>
                        </a:lnSpc>
                        <a:defRPr/>
                      </a:pPr>
                      <a:r>
                        <a:rPr lang="en-US" sz="3199">
                          <a:solidFill>
                            <a:srgbClr val="2D2D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+0.185 USD/bbl/year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395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39"/>
                        </a:lnSpc>
                        <a:defRPr/>
                      </a:pPr>
                      <a:r>
                        <a:rPr lang="en-US" sz="3199">
                          <a:solidFill>
                            <a:srgbClr val="2D2D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R²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39"/>
                        </a:lnSpc>
                        <a:defRPr/>
                      </a:pPr>
                      <a:r>
                        <a:rPr lang="en-US" sz="3199">
                          <a:solidFill>
                            <a:srgbClr val="2D2D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0.3016 (30% variance explained)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2"/>
                    </a:solidFill>
                  </a:tcPr>
                </a:tc>
              </a:tr>
              <a:tr h="10395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39"/>
                        </a:lnSpc>
                        <a:defRPr/>
                      </a:pPr>
                      <a:r>
                        <a:rPr lang="en-US" sz="3199">
                          <a:solidFill>
                            <a:srgbClr val="2D2D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F-Statistic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39"/>
                        </a:lnSpc>
                        <a:defRPr/>
                      </a:pPr>
                      <a:r>
                        <a:rPr lang="en-US" sz="3199">
                          <a:solidFill>
                            <a:srgbClr val="2D2D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285.84, p &lt; 0.001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3950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39"/>
                        </a:lnSpc>
                        <a:defRPr/>
                      </a:pPr>
                      <a:r>
                        <a:rPr lang="en-US" sz="3199">
                          <a:solidFill>
                            <a:srgbClr val="2D2D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Durbin-Watson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839"/>
                        </a:lnSpc>
                        <a:defRPr/>
                      </a:pPr>
                      <a:r>
                        <a:rPr lang="en-US" sz="3199">
                          <a:solidFill>
                            <a:srgbClr val="2D2D2D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0.054 (autocorrelation present)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2"/>
                    </a:solidFill>
                  </a:tcPr>
                </a:tc>
              </a:tr>
            </a:tbl>
          </a:graphicData>
        </a:graphic>
      </p:graphicFrame>
      <p:grpSp>
        <p:nvGrpSpPr>
          <p:cNvPr name="Group 15" id="15"/>
          <p:cNvGrpSpPr/>
          <p:nvPr/>
        </p:nvGrpSpPr>
        <p:grpSpPr>
          <a:xfrm rot="0">
            <a:off x="10415005" y="2796347"/>
            <a:ext cx="8229600" cy="821251"/>
            <a:chOff x="0" y="0"/>
            <a:chExt cx="10972800" cy="10950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1095002"/>
            </a:xfrm>
            <a:custGeom>
              <a:avLst/>
              <a:gdLst/>
              <a:ahLst/>
              <a:cxnLst/>
              <a:rect r="r" b="b" t="t" l="l"/>
              <a:pathLst>
                <a:path h="109500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95002"/>
                  </a:lnTo>
                  <a:lnTo>
                    <a:pt x="0" y="10950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718" r="0" b="-13979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10972800" cy="1180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19"/>
                </a:lnSpc>
              </a:pPr>
              <a:r>
                <a:rPr lang="en-US" sz="4099" b="true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ACF/PACF — Volatility Clustering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415005" y="3718367"/>
            <a:ext cx="7396161" cy="4629774"/>
            <a:chOff x="0" y="0"/>
            <a:chExt cx="9861548" cy="61730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61548" cy="6173032"/>
            </a:xfrm>
            <a:custGeom>
              <a:avLst/>
              <a:gdLst/>
              <a:ahLst/>
              <a:cxnLst/>
              <a:rect r="r" b="b" t="t" l="l"/>
              <a:pathLst>
                <a:path h="6173032" w="9861548">
                  <a:moveTo>
                    <a:pt x="0" y="0"/>
                  </a:moveTo>
                  <a:lnTo>
                    <a:pt x="9861548" y="0"/>
                  </a:lnTo>
                  <a:lnTo>
                    <a:pt x="9861548" y="6173032"/>
                  </a:lnTo>
                  <a:lnTo>
                    <a:pt x="0" y="6173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9" r="-11268" b="3573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80975"/>
              <a:ext cx="9861548" cy="63540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675638" indent="-337819" lvl="1">
                <a:lnSpc>
                  <a:spcPts val="4591"/>
                </a:lnSpc>
                <a:buFont typeface="Arial"/>
                <a:buChar char="•"/>
              </a:pPr>
              <a:r>
                <a:rPr lang="en-US" sz="2799">
                  <a:solidFill>
                    <a:srgbClr val="2D2D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All 36 ACF lags exceed 95% confidence interval</a:t>
              </a:r>
            </a:p>
            <a:p>
              <a:pPr algn="l" marL="675638" indent="-337819" lvl="1">
                <a:lnSpc>
                  <a:spcPts val="4591"/>
                </a:lnSpc>
                <a:buFont typeface="Arial"/>
                <a:buChar char="•"/>
              </a:pPr>
              <a:r>
                <a:rPr lang="en-US" sz="2799">
                  <a:solidFill>
                    <a:srgbClr val="2D2D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12-month seasonal component detected at lags 12–13</a:t>
              </a:r>
            </a:p>
            <a:p>
              <a:pPr algn="l" marL="675638" indent="-337819" lvl="1">
                <a:lnSpc>
                  <a:spcPts val="4591"/>
                </a:lnSpc>
                <a:buFont typeface="Arial"/>
                <a:buChar char="•"/>
              </a:pPr>
              <a:r>
                <a:rPr lang="en-US" sz="2799">
                  <a:solidFill>
                    <a:srgbClr val="2D2D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Confirms Kilian (2008): volatility clustering is structural ( Periods of stability are followed by more stability and periods of high fluctuation are followed by more fluctuation.)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" y="9692640"/>
            <a:ext cx="7315200" cy="457200"/>
            <a:chOff x="0" y="0"/>
            <a:chExt cx="9753600" cy="609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200: Applied Statistical Analysis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058400" y="9692640"/>
            <a:ext cx="7315200" cy="457200"/>
            <a:chOff x="0" y="0"/>
            <a:chExt cx="9753600" cy="609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April 2026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14400" y="4572000"/>
            <a:ext cx="5486400" cy="5486400"/>
            <a:chOff x="0" y="0"/>
            <a:chExt cx="7315200" cy="73152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0"/>
                  </a:lnTo>
                  <a:lnTo>
                    <a:pt x="0" y="731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75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65760"/>
            <a:ext cx="7315200" cy="457200"/>
            <a:chOff x="0" y="0"/>
            <a:chExt cx="97536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200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0" y="365760"/>
            <a:ext cx="7315200" cy="457200"/>
            <a:chOff x="0" y="0"/>
            <a:chExt cx="9753600" cy="609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 8 Final Report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386686" y="2851264"/>
            <a:ext cx="13454213" cy="4039390"/>
            <a:chOff x="0" y="0"/>
            <a:chExt cx="16285333" cy="48893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285333" cy="4889383"/>
            </a:xfrm>
            <a:custGeom>
              <a:avLst/>
              <a:gdLst/>
              <a:ahLst/>
              <a:cxnLst/>
              <a:rect r="r" b="b" t="t" l="l"/>
              <a:pathLst>
                <a:path h="4889383" w="16285333">
                  <a:moveTo>
                    <a:pt x="0" y="0"/>
                  </a:moveTo>
                  <a:lnTo>
                    <a:pt x="16285333" y="0"/>
                  </a:lnTo>
                  <a:lnTo>
                    <a:pt x="16285333" y="4889383"/>
                  </a:lnTo>
                  <a:lnTo>
                    <a:pt x="0" y="48893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237" r="17648" b="3034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19075"/>
              <a:ext cx="16285333" cy="51084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343"/>
                </a:lnSpc>
              </a:pPr>
              <a:r>
                <a:rPr lang="en-US" sz="9599" b="true">
                  <a:solidFill>
                    <a:srgbClr val="2D2D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Python Application Demo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9692640"/>
            <a:ext cx="7315200" cy="457200"/>
            <a:chOff x="0" y="0"/>
            <a:chExt cx="9753600" cy="609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200: Applied Statistical Analysis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058400" y="9692640"/>
            <a:ext cx="7315200" cy="457200"/>
            <a:chOff x="0" y="0"/>
            <a:chExt cx="9753600" cy="609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April 2026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65760"/>
            <a:ext cx="7315200" cy="457200"/>
            <a:chOff x="0" y="0"/>
            <a:chExt cx="97536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200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58400" y="36576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 8 Final Report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548640"/>
            <a:ext cx="16459200" cy="1371600"/>
            <a:chOff x="0" y="0"/>
            <a:chExt cx="21945600" cy="1828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9456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2D2D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Consolidated Findings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2194560"/>
            <a:ext cx="8229600" cy="1682496"/>
            <a:chOff x="0" y="0"/>
            <a:chExt cx="10972800" cy="22433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2243328"/>
            </a:xfrm>
            <a:custGeom>
              <a:avLst/>
              <a:gdLst/>
              <a:ahLst/>
              <a:cxnLst/>
              <a:rect r="r" b="b" t="t" l="l"/>
              <a:pathLst>
                <a:path h="22433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243328"/>
                  </a:lnTo>
                  <a:lnTo>
                    <a:pt x="0" y="224332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33856" y="2340864"/>
            <a:ext cx="914400" cy="1371600"/>
            <a:chOff x="0" y="0"/>
            <a:chExt cx="1219200" cy="182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t="0" r="-142455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21920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DDDDD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03120" y="2304288"/>
            <a:ext cx="6766560" cy="548640"/>
            <a:chOff x="0" y="0"/>
            <a:chExt cx="902208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9022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D2D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Structural Regime Shift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103120" y="2834640"/>
            <a:ext cx="6766560" cy="914400"/>
            <a:chOff x="0" y="0"/>
            <a:chExt cx="9022080" cy="121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022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90220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Two eras: low volatility (1970–90s) vs high volatility (2000–2020s) — 4×–7× increase in mean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92640" y="2194560"/>
            <a:ext cx="8229600" cy="1682496"/>
            <a:chOff x="0" y="0"/>
            <a:chExt cx="10972800" cy="22433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2243328"/>
            </a:xfrm>
            <a:custGeom>
              <a:avLst/>
              <a:gdLst/>
              <a:ahLst/>
              <a:cxnLst/>
              <a:rect r="r" b="b" t="t" l="l"/>
              <a:pathLst>
                <a:path h="22433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243328"/>
                  </a:lnTo>
                  <a:lnTo>
                    <a:pt x="0" y="224332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912096" y="2340864"/>
            <a:ext cx="914400" cy="1371600"/>
            <a:chOff x="0" y="0"/>
            <a:chExt cx="1219200" cy="1828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1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t="0" r="-142455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21920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DDDDD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881360" y="2304288"/>
            <a:ext cx="6766560" cy="548640"/>
            <a:chOff x="0" y="0"/>
            <a:chExt cx="902208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9022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D2D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Upward Long-Run Trend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881360" y="2834640"/>
            <a:ext cx="6766560" cy="914400"/>
            <a:chOff x="0" y="0"/>
            <a:chExt cx="902208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022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90220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+0.185 USD/bbl/year confirmed by OLS regression (R² = 0.30)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4114800"/>
            <a:ext cx="8229600" cy="1682496"/>
            <a:chOff x="0" y="0"/>
            <a:chExt cx="10972800" cy="22433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2243328"/>
            </a:xfrm>
            <a:custGeom>
              <a:avLst/>
              <a:gdLst/>
              <a:ahLst/>
              <a:cxnLst/>
              <a:rect r="r" b="b" t="t" l="l"/>
              <a:pathLst>
                <a:path h="22433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243328"/>
                  </a:lnTo>
                  <a:lnTo>
                    <a:pt x="0" y="224332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33856" y="4261104"/>
            <a:ext cx="914400" cy="1371600"/>
            <a:chOff x="0" y="0"/>
            <a:chExt cx="1219200" cy="1828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1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t="0" r="-142455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121920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DDDDD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103120" y="4224528"/>
            <a:ext cx="6766560" cy="548640"/>
            <a:chOff x="0" y="0"/>
            <a:chExt cx="902208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022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D2D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Non-Stationarity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103120" y="4754880"/>
            <a:ext cx="6766560" cy="914400"/>
            <a:chOff x="0" y="0"/>
            <a:chExt cx="9022080" cy="1219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022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0220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Raw prices &amp; volatility non-stationary; first differencing achieves stationarity (ADF)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692640" y="4114800"/>
            <a:ext cx="8229600" cy="1682496"/>
            <a:chOff x="0" y="0"/>
            <a:chExt cx="10972800" cy="22433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2243328"/>
            </a:xfrm>
            <a:custGeom>
              <a:avLst/>
              <a:gdLst/>
              <a:ahLst/>
              <a:cxnLst/>
              <a:rect r="r" b="b" t="t" l="l"/>
              <a:pathLst>
                <a:path h="22433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243328"/>
                  </a:lnTo>
                  <a:lnTo>
                    <a:pt x="0" y="224332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912096" y="4261104"/>
            <a:ext cx="914400" cy="1371600"/>
            <a:chOff x="0" y="0"/>
            <a:chExt cx="1219200" cy="1828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1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t="0" r="-142455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121920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DDDDD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881360" y="4224528"/>
            <a:ext cx="6766560" cy="548640"/>
            <a:chOff x="0" y="0"/>
            <a:chExt cx="902208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9022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D2D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Shock-Driven, Not Seasonal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881360" y="4754880"/>
            <a:ext cx="6766560" cy="914400"/>
            <a:chOff x="0" y="0"/>
            <a:chExt cx="9022080" cy="1219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022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90220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Geopolitical &amp; macro shocks dominate; seasonal effects minor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14400" y="6035040"/>
            <a:ext cx="8229600" cy="1682496"/>
            <a:chOff x="0" y="0"/>
            <a:chExt cx="10972800" cy="224332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72800" cy="2243328"/>
            </a:xfrm>
            <a:custGeom>
              <a:avLst/>
              <a:gdLst/>
              <a:ahLst/>
              <a:cxnLst/>
              <a:rect r="r" b="b" t="t" l="l"/>
              <a:pathLst>
                <a:path h="22433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243328"/>
                  </a:lnTo>
                  <a:lnTo>
                    <a:pt x="0" y="224332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33856" y="6181344"/>
            <a:ext cx="914400" cy="1371600"/>
            <a:chOff x="0" y="0"/>
            <a:chExt cx="1219200" cy="1828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21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t="0" r="-142455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121920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DDDDD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2103120" y="6144768"/>
            <a:ext cx="6766560" cy="548640"/>
            <a:chOff x="0" y="0"/>
            <a:chExt cx="9022080" cy="7315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9022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D2D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Volatility Memory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2103120" y="6675120"/>
            <a:ext cx="6766560" cy="914400"/>
            <a:chOff x="0" y="0"/>
            <a:chExt cx="9022080" cy="12192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022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90220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36 ACF lags exceed 95% CI — high volatility states persist for months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692640" y="6035040"/>
            <a:ext cx="8229600" cy="1682496"/>
            <a:chOff x="0" y="0"/>
            <a:chExt cx="10972800" cy="22433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0" cy="2243328"/>
            </a:xfrm>
            <a:custGeom>
              <a:avLst/>
              <a:gdLst/>
              <a:ahLst/>
              <a:cxnLst/>
              <a:rect r="r" b="b" t="t" l="l"/>
              <a:pathLst>
                <a:path h="224332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243328"/>
                  </a:lnTo>
                  <a:lnTo>
                    <a:pt x="0" y="224332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912096" y="6181344"/>
            <a:ext cx="914400" cy="1371600"/>
            <a:chOff x="0" y="0"/>
            <a:chExt cx="1219200" cy="1828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219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t="0" r="-142455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121920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DDDDD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06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881360" y="6144768"/>
            <a:ext cx="6766560" cy="548640"/>
            <a:chOff x="0" y="0"/>
            <a:chExt cx="902208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02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315" r="0" b="-19031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90220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2D2D2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2020s Elevated Baseline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0881360" y="6675120"/>
            <a:ext cx="6766560" cy="914400"/>
            <a:chOff x="0" y="0"/>
            <a:chExt cx="9022080" cy="12192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0220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9022080" cy="1257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Highest mean ($9.14), narrowing CI — COVID + Russia/Ukraine = structural shift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14400" y="9692640"/>
            <a:ext cx="7315200" cy="457200"/>
            <a:chOff x="0" y="0"/>
            <a:chExt cx="9753600" cy="6096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200: Applied Statistical Analysis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058400" y="9692640"/>
            <a:ext cx="7315200" cy="457200"/>
            <a:chOff x="0" y="0"/>
            <a:chExt cx="9753600" cy="6096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April 2026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6000" y="5486400"/>
            <a:ext cx="5486400" cy="5486400"/>
            <a:chOff x="0" y="0"/>
            <a:chExt cx="7315200" cy="73152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0"/>
                  </a:lnTo>
                  <a:lnTo>
                    <a:pt x="0" y="731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8000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65760"/>
            <a:ext cx="7315200" cy="457200"/>
            <a:chOff x="0" y="0"/>
            <a:chExt cx="97536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200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058400" y="365760"/>
            <a:ext cx="7315200" cy="457200"/>
            <a:chOff x="0" y="0"/>
            <a:chExt cx="9753600" cy="609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Week 8 Final Report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548640"/>
            <a:ext cx="16459200" cy="1371600"/>
            <a:chOff x="0" y="0"/>
            <a:chExt cx="21945600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945600" cy="1866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120"/>
                </a:lnSpc>
              </a:pPr>
              <a:r>
                <a:rPr lang="en-US" sz="7600" b="true">
                  <a:solidFill>
                    <a:srgbClr val="2D2D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Limitations &amp; Future Work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" y="2194560"/>
            <a:ext cx="8229600" cy="640080"/>
            <a:chOff x="0" y="0"/>
            <a:chExt cx="10972800" cy="853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400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" y="2926080"/>
            <a:ext cx="8229600" cy="5120640"/>
            <a:chOff x="0" y="0"/>
            <a:chExt cx="10972800" cy="6827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6827520"/>
            </a:xfrm>
            <a:custGeom>
              <a:avLst/>
              <a:gdLst/>
              <a:ahLst/>
              <a:cxnLst/>
              <a:rect r="r" b="b" t="t" l="l"/>
              <a:pathLst>
                <a:path h="6827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0"/>
                  </a:lnTo>
                  <a:lnTo>
                    <a:pt x="0" y="6827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833" t="0" r="-2983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71450"/>
              <a:ext cx="10972800" cy="6998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3960"/>
                </a:lnSpc>
                <a:buFont typeface="Arial"/>
                <a:buChar char="•"/>
              </a:pPr>
              <a:r>
                <a:rPr lang="en-US" sz="2200">
                  <a:solidFill>
                    <a:srgbClr val="2D2D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Univariate — no external drivers (OPEC, USD, geopolitics)</a:t>
              </a:r>
            </a:p>
            <a:p>
              <a:pPr algn="l" marL="530860" indent="-265430" lvl="1">
                <a:lnSpc>
                  <a:spcPts val="3960"/>
                </a:lnSpc>
                <a:buFont typeface="Arial"/>
                <a:buChar char="•"/>
              </a:pPr>
              <a:r>
                <a:rPr lang="en-US" sz="2200">
                  <a:solidFill>
                    <a:srgbClr val="2D2D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OLS assumption violations: heteroscedasticity &amp; autocorrelation</a:t>
              </a:r>
            </a:p>
            <a:p>
              <a:pPr algn="l" marL="530860" indent="-265430" lvl="1">
                <a:lnSpc>
                  <a:spcPts val="3960"/>
                </a:lnSpc>
                <a:buFont typeface="Arial"/>
                <a:buChar char="•"/>
              </a:pPr>
              <a:r>
                <a:rPr lang="en-US" sz="2200">
                  <a:solidFill>
                    <a:srgbClr val="2D2D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Decade boundary (year 2000) is arbitrary — not precision-tested</a:t>
              </a:r>
            </a:p>
            <a:p>
              <a:pPr algn="l" marL="530860" indent="-265430" lvl="1">
                <a:lnSpc>
                  <a:spcPts val="3960"/>
                </a:lnSpc>
                <a:buFont typeface="Arial"/>
                <a:buChar char="•"/>
              </a:pPr>
              <a:r>
                <a:rPr lang="en-US" sz="2200">
                  <a:solidFill>
                    <a:srgbClr val="2D2D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out-of-sample forecasting (descriptive only)</a:t>
              </a:r>
            </a:p>
            <a:p>
              <a:pPr algn="l" marL="530860" indent="-265430" lvl="1">
                <a:lnSpc>
                  <a:spcPts val="3960"/>
                </a:lnSpc>
                <a:buFont typeface="Arial"/>
                <a:buChar char="•"/>
              </a:pPr>
              <a:r>
                <a:rPr lang="en-US" sz="2200">
                  <a:solidFill>
                    <a:srgbClr val="2D2D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Monthly aggregation masks intra-month spikes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09760" y="2176024"/>
            <a:ext cx="8229600" cy="640080"/>
            <a:chOff x="0" y="0"/>
            <a:chExt cx="10972800" cy="853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400">
                  <a:solidFill>
                    <a:srgbClr val="44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WORK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509760" y="2926080"/>
            <a:ext cx="8229600" cy="5120640"/>
            <a:chOff x="0" y="0"/>
            <a:chExt cx="10972800" cy="6827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6827520"/>
            </a:xfrm>
            <a:custGeom>
              <a:avLst/>
              <a:gdLst/>
              <a:ahLst/>
              <a:cxnLst/>
              <a:rect r="r" b="b" t="t" l="l"/>
              <a:pathLst>
                <a:path h="6827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0"/>
                  </a:lnTo>
                  <a:lnTo>
                    <a:pt x="0" y="6827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9833" t="0" r="-2983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71450"/>
              <a:ext cx="10972800" cy="6998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3960"/>
                </a:lnSpc>
                <a:buFont typeface="Arial"/>
                <a:buChar char="•"/>
              </a:pPr>
              <a:r>
                <a:rPr lang="en-US" sz="2200">
                  <a:solidFill>
                    <a:srgbClr val="2D2D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 OPEC data, USD index, geopolitical risk index</a:t>
              </a:r>
            </a:p>
            <a:p>
              <a:pPr algn="l" marL="530860" indent="-265430" lvl="1">
                <a:lnSpc>
                  <a:spcPts val="3960"/>
                </a:lnSpc>
                <a:buFont typeface="Arial"/>
                <a:buChar char="•"/>
              </a:pPr>
              <a:r>
                <a:rPr lang="en-US" sz="2200">
                  <a:solidFill>
                    <a:srgbClr val="2D2D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Fit ARIMA-GARCH(1,1) for volatility forecasting</a:t>
              </a:r>
            </a:p>
            <a:p>
              <a:pPr algn="l" marL="530860" indent="-265430" lvl="1">
                <a:lnSpc>
                  <a:spcPts val="3960"/>
                </a:lnSpc>
                <a:buFont typeface="Arial"/>
                <a:buChar char="•"/>
              </a:pPr>
              <a:r>
                <a:rPr lang="en-US" sz="2200">
                  <a:solidFill>
                    <a:srgbClr val="2D2D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Bayesian structural break detection (remove arbitrary boundary)</a:t>
              </a:r>
            </a:p>
            <a:p>
              <a:pPr algn="l" marL="530860" indent="-265430" lvl="1">
                <a:lnSpc>
                  <a:spcPts val="3960"/>
                </a:lnSpc>
                <a:buFont typeface="Arial"/>
                <a:buChar char="•"/>
              </a:pPr>
              <a:r>
                <a:rPr lang="en-US" sz="2200">
                  <a:solidFill>
                    <a:srgbClr val="2D2D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 LSTM / gradient boosting vs ARIMA</a:t>
              </a:r>
            </a:p>
            <a:p>
              <a:pPr algn="l" marL="530860" indent="-265430" lvl="1">
                <a:lnSpc>
                  <a:spcPts val="3960"/>
                </a:lnSpc>
                <a:buFont typeface="Arial"/>
                <a:buChar char="•"/>
              </a:pPr>
              <a:r>
                <a:rPr lang="en-US" sz="2200">
                  <a:solidFill>
                    <a:srgbClr val="2D2D2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Interactive Streamlit / Dash web dashboard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9692640"/>
            <a:ext cx="7315200" cy="457200"/>
            <a:chOff x="0" y="0"/>
            <a:chExt cx="9753600" cy="609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200: Applied Statistical Analysis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058400" y="9692640"/>
            <a:ext cx="7315200" cy="457200"/>
            <a:chOff x="0" y="0"/>
            <a:chExt cx="9753600" cy="609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6666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April 2026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731520"/>
            <a:ext cx="14630400" cy="1463040"/>
            <a:chOff x="0" y="0"/>
            <a:chExt cx="19507200" cy="1950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072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95072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sz="9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97280" y="2468880"/>
            <a:ext cx="16459200" cy="768096"/>
            <a:chOff x="0" y="0"/>
            <a:chExt cx="21945600" cy="10241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9456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H0 Rejected at 0.1% significance level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280" y="3328416"/>
            <a:ext cx="16459200" cy="768096"/>
            <a:chOff x="0" y="0"/>
            <a:chExt cx="21945600" cy="1024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9456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Using ANOVA, Kruskal-Wallis, Tukey HSD across 675 monthly observations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7280" y="4187952"/>
            <a:ext cx="16459200" cy="768096"/>
            <a:chOff x="0" y="0"/>
            <a:chExt cx="21945600" cy="10241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19456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Two distinct volatility regimes confirmed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7280" y="5047488"/>
            <a:ext cx="16459200" cy="768096"/>
            <a:chOff x="0" y="0"/>
            <a:chExt cx="21945600" cy="10241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9456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1970s–1990s: $1.30–2.19/bbl  →  2000s–2020s: $7.43–9.14/bbl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7280" y="5907024"/>
            <a:ext cx="16459200" cy="768096"/>
            <a:chOff x="0" y="0"/>
            <a:chExt cx="21945600" cy="10241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19456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+0.185 USD/bbl secular upward trend per year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7280" y="6766560"/>
            <a:ext cx="16459200" cy="768096"/>
            <a:chOff x="0" y="0"/>
            <a:chExt cx="21945600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9456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Robust across parametric and non-parametric frameworks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97280" y="7626096"/>
            <a:ext cx="16459200" cy="768096"/>
            <a:chOff x="0" y="0"/>
            <a:chExt cx="21945600" cy="10241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194560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2020s: Highest embedded volatility on record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7280" y="8485632"/>
            <a:ext cx="16459200" cy="768096"/>
            <a:chOff x="0" y="0"/>
            <a:chExt cx="21945600" cy="10241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4560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1945600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COVID + Russia/Ukraine crises created structural elevation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7280" y="9326880"/>
            <a:ext cx="16824960" cy="640080"/>
            <a:chOff x="0" y="0"/>
            <a:chExt cx="22433280" cy="853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2433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88888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For policymakers &amp; investors: risk frameworks calibrated on pre-2000 data systematically underestimate current volatility.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85625" y="2636007"/>
            <a:ext cx="11650999" cy="3565178"/>
            <a:chOff x="0" y="0"/>
            <a:chExt cx="8645598" cy="26455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645598" cy="2645533"/>
            </a:xfrm>
            <a:custGeom>
              <a:avLst/>
              <a:gdLst/>
              <a:ahLst/>
              <a:cxnLst/>
              <a:rect r="r" b="b" t="t" l="l"/>
              <a:pathLst>
                <a:path h="2645533" w="8645598">
                  <a:moveTo>
                    <a:pt x="0" y="0"/>
                  </a:moveTo>
                  <a:lnTo>
                    <a:pt x="8645598" y="0"/>
                  </a:lnTo>
                  <a:lnTo>
                    <a:pt x="8645598" y="2645533"/>
                  </a:lnTo>
                  <a:lnTo>
                    <a:pt x="0" y="26455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6807" r="-125631" b="-8054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645598" cy="26931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80"/>
                </a:lnSpc>
              </a:pPr>
              <a:r>
                <a:rPr lang="en-US" sz="14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Thank You 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DAHHonhB94g</dc:identifier>
  <dcterms:modified xsi:type="dcterms:W3CDTF">2011-08-01T06:04:30Z</dcterms:modified>
  <cp:revision>1</cp:revision>
  <dc:title>Week 8 Final PPT</dc:title>
</cp:coreProperties>
</file>