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2570" t="0" r="-6257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83981" y="2082838"/>
            <a:ext cx="10960773" cy="173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Exploring Global Fuel Price Trends (1970–2026)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5126" y="4945154"/>
            <a:ext cx="9445523" cy="156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sz="25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analysis and predictive modeling project examining historical fuel price dynamics across countries and regions.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09667" y="7740406"/>
            <a:ext cx="6509401" cy="861910"/>
            <a:chOff x="0" y="0"/>
            <a:chExt cx="4660984" cy="6171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0956" cy="617129"/>
            </a:xfrm>
            <a:custGeom>
              <a:avLst/>
              <a:gdLst/>
              <a:ahLst/>
              <a:cxnLst/>
              <a:rect r="r" b="b" t="t" l="l"/>
              <a:pathLst>
                <a:path h="617129" w="4660956">
                  <a:moveTo>
                    <a:pt x="0" y="44309"/>
                  </a:moveTo>
                  <a:cubicBezTo>
                    <a:pt x="0" y="19850"/>
                    <a:pt x="26321" y="0"/>
                    <a:pt x="58753" y="0"/>
                  </a:cubicBezTo>
                  <a:lnTo>
                    <a:pt x="4602203" y="0"/>
                  </a:lnTo>
                  <a:cubicBezTo>
                    <a:pt x="4634681" y="0"/>
                    <a:pt x="4660956" y="19850"/>
                    <a:pt x="4660956" y="44309"/>
                  </a:cubicBezTo>
                  <a:lnTo>
                    <a:pt x="4660956" y="572820"/>
                  </a:lnTo>
                  <a:cubicBezTo>
                    <a:pt x="4660956" y="597314"/>
                    <a:pt x="4634635" y="617129"/>
                    <a:pt x="4602203" y="617129"/>
                  </a:cubicBezTo>
                  <a:lnTo>
                    <a:pt x="58753" y="617129"/>
                  </a:lnTo>
                  <a:cubicBezTo>
                    <a:pt x="26274" y="617129"/>
                    <a:pt x="0" y="597279"/>
                    <a:pt x="0" y="572820"/>
                  </a:cubicBezTo>
                  <a:close/>
                </a:path>
              </a:pathLst>
            </a:custGeom>
            <a:solidFill>
              <a:srgbClr val="C3BCF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90867" y="7693931"/>
            <a:ext cx="6147001" cy="78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33"/>
              </a:lnSpc>
            </a:pPr>
            <a:r>
              <a:rPr lang="en-US" sz="4073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Team-Fast and Furious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84119" y="747862"/>
            <a:ext cx="7976222" cy="99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1"/>
              </a:lnSpc>
            </a:pPr>
            <a:r>
              <a:rPr lang="en-US" sz="6343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0473" y="4258692"/>
            <a:ext cx="5343479" cy="61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9"/>
              </a:lnSpc>
            </a:pPr>
            <a:r>
              <a:rPr lang="en-US" b="true" sz="3983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Compare regions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66253" y="5575324"/>
            <a:ext cx="3296177" cy="17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Quantify differences across continents and typical within-region variability.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25083" y="4176251"/>
            <a:ext cx="4834217" cy="1101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1"/>
              </a:lnSpc>
            </a:pPr>
            <a:r>
              <a:rPr lang="en-US" b="true" sz="3577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 predictive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63304" y="5575324"/>
            <a:ext cx="3591202" cy="17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 and validate models to forecast future fuel prices given year and region inputs.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06620" y="-216854"/>
            <a:ext cx="6060609" cy="10503854"/>
            <a:chOff x="0" y="0"/>
            <a:chExt cx="8080812" cy="140051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80812" cy="14005139"/>
            </a:xfrm>
            <a:custGeom>
              <a:avLst/>
              <a:gdLst/>
              <a:ahLst/>
              <a:cxnLst/>
              <a:rect r="r" b="b" t="t" l="l"/>
              <a:pathLst>
                <a:path h="14005139" w="8080812">
                  <a:moveTo>
                    <a:pt x="0" y="0"/>
                  </a:moveTo>
                  <a:lnTo>
                    <a:pt x="8080812" y="0"/>
                  </a:lnTo>
                  <a:lnTo>
                    <a:pt x="8080812" y="14005139"/>
                  </a:lnTo>
                  <a:lnTo>
                    <a:pt x="0" y="14005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066" t="0" r="-80066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14226" y="3503552"/>
            <a:ext cx="4912532" cy="108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b="true" sz="3513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Analyze trends over time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55658" y="5048250"/>
            <a:ext cx="3629667" cy="221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Characterize temporal patterns, seasonality, and structural changes in fuel prices from 1970 to 2026.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28246" y="3503552"/>
            <a:ext cx="3860571" cy="534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b="true" sz="3513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Identify drivers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51763" y="5048250"/>
            <a:ext cx="4018330" cy="17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Assess economic, geopolitical, and supply-side factors correlating with price shifts.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06620" y="-216854"/>
            <a:ext cx="6060609" cy="10503854"/>
            <a:chOff x="0" y="0"/>
            <a:chExt cx="8080812" cy="140051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812" cy="14005139"/>
            </a:xfrm>
            <a:custGeom>
              <a:avLst/>
              <a:gdLst/>
              <a:ahLst/>
              <a:cxnLst/>
              <a:rect r="r" b="b" t="t" l="l"/>
              <a:pathLst>
                <a:path h="14005139" w="8080812">
                  <a:moveTo>
                    <a:pt x="0" y="0"/>
                  </a:moveTo>
                  <a:lnTo>
                    <a:pt x="8080812" y="0"/>
                  </a:lnTo>
                  <a:lnTo>
                    <a:pt x="8080812" y="14005139"/>
                  </a:lnTo>
                  <a:lnTo>
                    <a:pt x="0" y="14005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066" t="0" r="-8006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52808" y="747862"/>
            <a:ext cx="7976222" cy="99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1"/>
              </a:lnSpc>
            </a:pPr>
            <a:r>
              <a:rPr lang="en-US" sz="6343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2570" t="0" r="-6257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0118" y="1473054"/>
            <a:ext cx="7648122" cy="94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5"/>
              </a:lnSpc>
            </a:pPr>
            <a:r>
              <a:rPr lang="en-US" sz="5987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2847" y="4298034"/>
            <a:ext cx="9868510" cy="2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285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Fuel prices display persistent volatility driven by a mix of market, political, and structural factors. Regional disparities complicate cross-country comparisons and forecasting. Accurate prediction requires careful feature selection, temporal modeling, and robust validation.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8275478"/>
            <a:ext cx="9445523" cy="1311422"/>
            <a:chOff x="0" y="0"/>
            <a:chExt cx="12594031" cy="1748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93955" cy="1748473"/>
            </a:xfrm>
            <a:custGeom>
              <a:avLst/>
              <a:gdLst/>
              <a:ahLst/>
              <a:cxnLst/>
              <a:rect r="r" b="b" t="t" l="l"/>
              <a:pathLst>
                <a:path h="1748473" w="12593955">
                  <a:moveTo>
                    <a:pt x="0" y="125537"/>
                  </a:moveTo>
                  <a:cubicBezTo>
                    <a:pt x="0" y="56240"/>
                    <a:pt x="71120" y="0"/>
                    <a:pt x="158750" y="0"/>
                  </a:cubicBezTo>
                  <a:lnTo>
                    <a:pt x="12435205" y="0"/>
                  </a:lnTo>
                  <a:cubicBezTo>
                    <a:pt x="12522962" y="0"/>
                    <a:pt x="12593955" y="56240"/>
                    <a:pt x="12593955" y="125537"/>
                  </a:cubicBezTo>
                  <a:lnTo>
                    <a:pt x="12593955" y="1622936"/>
                  </a:lnTo>
                  <a:cubicBezTo>
                    <a:pt x="12593955" y="1692333"/>
                    <a:pt x="12522836" y="1748473"/>
                    <a:pt x="12435205" y="1748473"/>
                  </a:cubicBezTo>
                  <a:lnTo>
                    <a:pt x="158750" y="1748473"/>
                  </a:lnTo>
                  <a:cubicBezTo>
                    <a:pt x="70993" y="1748473"/>
                    <a:pt x="0" y="1692232"/>
                    <a:pt x="0" y="1622936"/>
                  </a:cubicBezTo>
                  <a:close/>
                </a:path>
              </a:pathLst>
            </a:custGeom>
            <a:solidFill>
              <a:srgbClr val="C3BC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5759" y="8705589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71" r="-8" b="-65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90939" y="8505690"/>
            <a:ext cx="8240611" cy="87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challenge: separate transient shocks from long-term structural trends.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16528" y="1280566"/>
            <a:ext cx="8748348" cy="84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3"/>
              </a:lnSpc>
            </a:pPr>
            <a:r>
              <a:rPr lang="en-US" sz="5388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Strategy &amp; Sources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6250934" cy="10287000"/>
            <a:chOff x="0" y="0"/>
            <a:chExt cx="8334578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34629" cy="13716051"/>
            </a:xfrm>
            <a:custGeom>
              <a:avLst/>
              <a:gdLst/>
              <a:ahLst/>
              <a:cxnLst/>
              <a:rect r="r" b="b" t="t" l="l"/>
              <a:pathLst>
                <a:path h="13716051" w="8334629">
                  <a:moveTo>
                    <a:pt x="0" y="0"/>
                  </a:moveTo>
                  <a:lnTo>
                    <a:pt x="8334629" y="0"/>
                  </a:lnTo>
                  <a:lnTo>
                    <a:pt x="8334629" y="13716051"/>
                  </a:lnTo>
                  <a:lnTo>
                    <a:pt x="0" y="13716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3502" t="0" r="-73502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39449" y="3462308"/>
            <a:ext cx="6306308" cy="49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6"/>
              </a:lnSpc>
            </a:pPr>
            <a:r>
              <a:rPr lang="en-US" sz="3237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Planned dataset and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16989" y="4329595"/>
            <a:ext cx="11305347" cy="341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8270" indent="-189135" lvl="1">
              <a:lnSpc>
                <a:spcPts val="3941"/>
              </a:lnSpc>
              <a:buFont typeface="Arial"/>
              <a:buChar char="•"/>
            </a:pPr>
            <a:r>
              <a:rPr lang="en-US" sz="250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Source: Kaggle — "Global Fuel Price Trends (1970–2026)"</a:t>
            </a:r>
          </a:p>
          <a:p>
            <a:pPr algn="l" marL="378270" indent="-189135" lvl="1">
              <a:lnSpc>
                <a:spcPts val="3941"/>
              </a:lnSpc>
              <a:buFont typeface="Arial"/>
              <a:buChar char="•"/>
            </a:pPr>
            <a:r>
              <a:rPr lang="en-US" sz="250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fields: Year, Country, Region, Fuel price (local currency / USD)</a:t>
            </a:r>
          </a:p>
          <a:p>
            <a:pPr algn="l" marL="378270" indent="-189135" lvl="1">
              <a:lnSpc>
                <a:spcPts val="3941"/>
              </a:lnSpc>
              <a:buFont typeface="Arial"/>
              <a:buChar char="•"/>
            </a:pPr>
            <a:r>
              <a:rPr lang="en-US" sz="250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Auxiliary features (derived): CPI-adjusted price, oil benchmark (Brent) at year, exchange rate, policy flags</a:t>
            </a:r>
          </a:p>
          <a:p>
            <a:pPr algn="l" marL="378270" indent="-189135" lvl="1">
              <a:lnSpc>
                <a:spcPts val="3941"/>
              </a:lnSpc>
              <a:buFont typeface="Arial"/>
              <a:buChar char="•"/>
            </a:pPr>
            <a:r>
              <a:rPr lang="en-US" sz="250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Quality checks: missing data patterns, outlier detection, stationarity tests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43495" y="1053864"/>
            <a:ext cx="8401011" cy="84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1"/>
              </a:lnSpc>
            </a:pPr>
            <a:r>
              <a:rPr lang="en-US" sz="5393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Statistical Methodology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626519"/>
            <a:ext cx="3872655" cy="4373318"/>
            <a:chOff x="0" y="0"/>
            <a:chExt cx="5163541" cy="58310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5150739" cy="5818378"/>
            </a:xfrm>
            <a:custGeom>
              <a:avLst/>
              <a:gdLst/>
              <a:ahLst/>
              <a:cxnLst/>
              <a:rect r="r" b="b" t="t" l="l"/>
              <a:pathLst>
                <a:path h="5818378" w="5150739">
                  <a:moveTo>
                    <a:pt x="0" y="158877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4991989" y="0"/>
                  </a:lnTo>
                  <a:cubicBezTo>
                    <a:pt x="5079746" y="0"/>
                    <a:pt x="5150739" y="71120"/>
                    <a:pt x="5150739" y="158877"/>
                  </a:cubicBezTo>
                  <a:lnTo>
                    <a:pt x="5150739" y="5659501"/>
                  </a:lnTo>
                  <a:cubicBezTo>
                    <a:pt x="5150739" y="5747258"/>
                    <a:pt x="5079619" y="5818378"/>
                    <a:pt x="4991989" y="5818378"/>
                  </a:cubicBezTo>
                  <a:lnTo>
                    <a:pt x="158750" y="5818378"/>
                  </a:lnTo>
                  <a:cubicBezTo>
                    <a:pt x="70993" y="5818378"/>
                    <a:pt x="0" y="5747258"/>
                    <a:pt x="0" y="5659501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63439" cy="5831078"/>
            </a:xfrm>
            <a:custGeom>
              <a:avLst/>
              <a:gdLst/>
              <a:ahLst/>
              <a:cxnLst/>
              <a:rect r="r" b="b" t="t" l="l"/>
              <a:pathLst>
                <a:path h="5831078" w="5163439">
                  <a:moveTo>
                    <a:pt x="0" y="165227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4998339" y="0"/>
                  </a:lnTo>
                  <a:lnTo>
                    <a:pt x="4998339" y="6350"/>
                  </a:lnTo>
                  <a:lnTo>
                    <a:pt x="4998339" y="0"/>
                  </a:lnTo>
                  <a:cubicBezTo>
                    <a:pt x="5089525" y="0"/>
                    <a:pt x="5163439" y="73914"/>
                    <a:pt x="5163439" y="165227"/>
                  </a:cubicBezTo>
                  <a:lnTo>
                    <a:pt x="5157089" y="165227"/>
                  </a:lnTo>
                  <a:lnTo>
                    <a:pt x="5163439" y="165227"/>
                  </a:lnTo>
                  <a:lnTo>
                    <a:pt x="5163439" y="5665851"/>
                  </a:lnTo>
                  <a:lnTo>
                    <a:pt x="5157089" y="5665851"/>
                  </a:lnTo>
                  <a:lnTo>
                    <a:pt x="5163439" y="5665851"/>
                  </a:lnTo>
                  <a:cubicBezTo>
                    <a:pt x="5163439" y="5757037"/>
                    <a:pt x="5089525" y="5831078"/>
                    <a:pt x="4998339" y="5831078"/>
                  </a:cubicBezTo>
                  <a:lnTo>
                    <a:pt x="4998339" y="5824728"/>
                  </a:lnTo>
                  <a:lnTo>
                    <a:pt x="4998339" y="5831078"/>
                  </a:lnTo>
                  <a:lnTo>
                    <a:pt x="165100" y="5831078"/>
                  </a:lnTo>
                  <a:lnTo>
                    <a:pt x="165100" y="5824728"/>
                  </a:lnTo>
                  <a:lnTo>
                    <a:pt x="165100" y="5831078"/>
                  </a:lnTo>
                  <a:cubicBezTo>
                    <a:pt x="73914" y="5831078"/>
                    <a:pt x="0" y="5757164"/>
                    <a:pt x="0" y="5665851"/>
                  </a:cubicBezTo>
                  <a:lnTo>
                    <a:pt x="0" y="165227"/>
                  </a:lnTo>
                  <a:lnTo>
                    <a:pt x="6350" y="165227"/>
                  </a:lnTo>
                  <a:lnTo>
                    <a:pt x="0" y="165227"/>
                  </a:lnTo>
                  <a:moveTo>
                    <a:pt x="12700" y="165227"/>
                  </a:moveTo>
                  <a:lnTo>
                    <a:pt x="12700" y="5665851"/>
                  </a:lnTo>
                  <a:lnTo>
                    <a:pt x="6350" y="5665851"/>
                  </a:lnTo>
                  <a:lnTo>
                    <a:pt x="12700" y="5665851"/>
                  </a:lnTo>
                  <a:cubicBezTo>
                    <a:pt x="12700" y="5750052"/>
                    <a:pt x="80899" y="5818378"/>
                    <a:pt x="165100" y="5818378"/>
                  </a:cubicBezTo>
                  <a:lnTo>
                    <a:pt x="4998339" y="5818378"/>
                  </a:lnTo>
                  <a:cubicBezTo>
                    <a:pt x="5082540" y="5818378"/>
                    <a:pt x="5150739" y="5750052"/>
                    <a:pt x="5150739" y="5665851"/>
                  </a:cubicBezTo>
                  <a:lnTo>
                    <a:pt x="5150739" y="165227"/>
                  </a:lnTo>
                  <a:cubicBezTo>
                    <a:pt x="5150739" y="81026"/>
                    <a:pt x="5082540" y="12700"/>
                    <a:pt x="499833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1026"/>
                    <a:pt x="12700" y="165227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2905277"/>
            <a:ext cx="3277048" cy="8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Exploratory Data Analysis (EDA)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3885009"/>
            <a:ext cx="3277048" cy="311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Visualize distributions, trends, correlations; decompose time series into trend/seasonality/residuals.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34127" y="2626519"/>
            <a:ext cx="3872808" cy="4373318"/>
            <a:chOff x="0" y="0"/>
            <a:chExt cx="5163744" cy="58310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5150993" cy="5818378"/>
            </a:xfrm>
            <a:custGeom>
              <a:avLst/>
              <a:gdLst/>
              <a:ahLst/>
              <a:cxnLst/>
              <a:rect r="r" b="b" t="t" l="l"/>
              <a:pathLst>
                <a:path h="5818378" w="5150993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4992243" y="0"/>
                  </a:lnTo>
                  <a:cubicBezTo>
                    <a:pt x="5079873" y="0"/>
                    <a:pt x="5150993" y="71120"/>
                    <a:pt x="5150993" y="158750"/>
                  </a:cubicBezTo>
                  <a:lnTo>
                    <a:pt x="5150993" y="5659628"/>
                  </a:lnTo>
                  <a:cubicBezTo>
                    <a:pt x="5150993" y="5747385"/>
                    <a:pt x="5079873" y="5818378"/>
                    <a:pt x="4992243" y="5818378"/>
                  </a:cubicBezTo>
                  <a:lnTo>
                    <a:pt x="158750" y="5818378"/>
                  </a:lnTo>
                  <a:cubicBezTo>
                    <a:pt x="71120" y="5818378"/>
                    <a:pt x="0" y="5747258"/>
                    <a:pt x="0" y="5659628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63693" cy="5831078"/>
            </a:xfrm>
            <a:custGeom>
              <a:avLst/>
              <a:gdLst/>
              <a:ahLst/>
              <a:cxnLst/>
              <a:rect r="r" b="b" t="t" l="l"/>
              <a:pathLst>
                <a:path h="5831078" w="5163693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4998593" y="0"/>
                  </a:lnTo>
                  <a:lnTo>
                    <a:pt x="4998593" y="6350"/>
                  </a:lnTo>
                  <a:lnTo>
                    <a:pt x="4998593" y="0"/>
                  </a:lnTo>
                  <a:cubicBezTo>
                    <a:pt x="5089779" y="0"/>
                    <a:pt x="5163693" y="73914"/>
                    <a:pt x="5163693" y="165100"/>
                  </a:cubicBezTo>
                  <a:lnTo>
                    <a:pt x="5157343" y="165100"/>
                  </a:lnTo>
                  <a:lnTo>
                    <a:pt x="5163693" y="165100"/>
                  </a:lnTo>
                  <a:lnTo>
                    <a:pt x="5163693" y="5665978"/>
                  </a:lnTo>
                  <a:lnTo>
                    <a:pt x="5157343" y="5665978"/>
                  </a:lnTo>
                  <a:lnTo>
                    <a:pt x="5163693" y="5665978"/>
                  </a:lnTo>
                  <a:cubicBezTo>
                    <a:pt x="5163693" y="5757164"/>
                    <a:pt x="5089779" y="5831078"/>
                    <a:pt x="4998593" y="5831078"/>
                  </a:cubicBezTo>
                  <a:lnTo>
                    <a:pt x="4998593" y="5824728"/>
                  </a:lnTo>
                  <a:lnTo>
                    <a:pt x="4998593" y="5831078"/>
                  </a:lnTo>
                  <a:lnTo>
                    <a:pt x="165100" y="5831078"/>
                  </a:lnTo>
                  <a:lnTo>
                    <a:pt x="165100" y="5824728"/>
                  </a:lnTo>
                  <a:lnTo>
                    <a:pt x="165100" y="5831078"/>
                  </a:lnTo>
                  <a:cubicBezTo>
                    <a:pt x="73914" y="5831078"/>
                    <a:pt x="0" y="5757164"/>
                    <a:pt x="0" y="56659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665978"/>
                  </a:lnTo>
                  <a:lnTo>
                    <a:pt x="6350" y="5665978"/>
                  </a:lnTo>
                  <a:lnTo>
                    <a:pt x="12700" y="5665978"/>
                  </a:lnTo>
                  <a:cubicBezTo>
                    <a:pt x="12700" y="5750179"/>
                    <a:pt x="80899" y="5818378"/>
                    <a:pt x="165100" y="5818378"/>
                  </a:cubicBezTo>
                  <a:lnTo>
                    <a:pt x="4998593" y="5818378"/>
                  </a:lnTo>
                  <a:cubicBezTo>
                    <a:pt x="5082794" y="5818378"/>
                    <a:pt x="5150993" y="5750179"/>
                    <a:pt x="5150993" y="5665978"/>
                  </a:cubicBezTo>
                  <a:lnTo>
                    <a:pt x="5150993" y="165100"/>
                  </a:lnTo>
                  <a:cubicBezTo>
                    <a:pt x="5150993" y="80899"/>
                    <a:pt x="5082794" y="12700"/>
                    <a:pt x="4998593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431927" y="2905277"/>
            <a:ext cx="3246482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Linear Regression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31927" y="3442097"/>
            <a:ext cx="3277191" cy="311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Baseline predictive model (OLS, regularized variants) to estimate year/region effects and continuous predictors.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0922" y="2626519"/>
            <a:ext cx="3872808" cy="4373318"/>
            <a:chOff x="0" y="0"/>
            <a:chExt cx="5163744" cy="58310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5150993" cy="5818378"/>
            </a:xfrm>
            <a:custGeom>
              <a:avLst/>
              <a:gdLst/>
              <a:ahLst/>
              <a:cxnLst/>
              <a:rect r="r" b="b" t="t" l="l"/>
              <a:pathLst>
                <a:path h="5818378" w="5150993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4992243" y="0"/>
                  </a:lnTo>
                  <a:cubicBezTo>
                    <a:pt x="5079873" y="0"/>
                    <a:pt x="5150993" y="71120"/>
                    <a:pt x="5150993" y="158750"/>
                  </a:cubicBezTo>
                  <a:lnTo>
                    <a:pt x="5150993" y="5659628"/>
                  </a:lnTo>
                  <a:cubicBezTo>
                    <a:pt x="5150993" y="5747385"/>
                    <a:pt x="5079873" y="5818378"/>
                    <a:pt x="4992243" y="5818378"/>
                  </a:cubicBezTo>
                  <a:lnTo>
                    <a:pt x="158750" y="5818378"/>
                  </a:lnTo>
                  <a:cubicBezTo>
                    <a:pt x="71120" y="5818378"/>
                    <a:pt x="0" y="5747258"/>
                    <a:pt x="0" y="5659628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63693" cy="5831078"/>
            </a:xfrm>
            <a:custGeom>
              <a:avLst/>
              <a:gdLst/>
              <a:ahLst/>
              <a:cxnLst/>
              <a:rect r="r" b="b" t="t" l="l"/>
              <a:pathLst>
                <a:path h="5831078" w="5163693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4998593" y="0"/>
                  </a:lnTo>
                  <a:lnTo>
                    <a:pt x="4998593" y="6350"/>
                  </a:lnTo>
                  <a:lnTo>
                    <a:pt x="4998593" y="0"/>
                  </a:lnTo>
                  <a:cubicBezTo>
                    <a:pt x="5089779" y="0"/>
                    <a:pt x="5163693" y="73914"/>
                    <a:pt x="5163693" y="165100"/>
                  </a:cubicBezTo>
                  <a:lnTo>
                    <a:pt x="5157343" y="165100"/>
                  </a:lnTo>
                  <a:lnTo>
                    <a:pt x="5163693" y="165100"/>
                  </a:lnTo>
                  <a:lnTo>
                    <a:pt x="5163693" y="5665978"/>
                  </a:lnTo>
                  <a:lnTo>
                    <a:pt x="5157343" y="5665978"/>
                  </a:lnTo>
                  <a:lnTo>
                    <a:pt x="5163693" y="5665978"/>
                  </a:lnTo>
                  <a:cubicBezTo>
                    <a:pt x="5163693" y="5757164"/>
                    <a:pt x="5089779" y="5831078"/>
                    <a:pt x="4998593" y="5831078"/>
                  </a:cubicBezTo>
                  <a:lnTo>
                    <a:pt x="4998593" y="5824728"/>
                  </a:lnTo>
                  <a:lnTo>
                    <a:pt x="4998593" y="5831078"/>
                  </a:lnTo>
                  <a:lnTo>
                    <a:pt x="165100" y="5831078"/>
                  </a:lnTo>
                  <a:lnTo>
                    <a:pt x="165100" y="5824728"/>
                  </a:lnTo>
                  <a:lnTo>
                    <a:pt x="165100" y="5831078"/>
                  </a:lnTo>
                  <a:cubicBezTo>
                    <a:pt x="73914" y="5831078"/>
                    <a:pt x="0" y="5757164"/>
                    <a:pt x="0" y="56659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665978"/>
                  </a:lnTo>
                  <a:lnTo>
                    <a:pt x="6350" y="5665978"/>
                  </a:lnTo>
                  <a:lnTo>
                    <a:pt x="12700" y="5665978"/>
                  </a:lnTo>
                  <a:cubicBezTo>
                    <a:pt x="12700" y="5750179"/>
                    <a:pt x="80899" y="5818378"/>
                    <a:pt x="165100" y="5818378"/>
                  </a:cubicBezTo>
                  <a:lnTo>
                    <a:pt x="4998593" y="5818378"/>
                  </a:lnTo>
                  <a:cubicBezTo>
                    <a:pt x="5082794" y="5818378"/>
                    <a:pt x="5150993" y="5750179"/>
                    <a:pt x="5150993" y="5665978"/>
                  </a:cubicBezTo>
                  <a:lnTo>
                    <a:pt x="5150993" y="165100"/>
                  </a:lnTo>
                  <a:cubicBezTo>
                    <a:pt x="5150993" y="80899"/>
                    <a:pt x="5082794" y="12700"/>
                    <a:pt x="4998593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578731" y="2905277"/>
            <a:ext cx="3277191" cy="8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ANOVA &amp; Group Tests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78731" y="3885009"/>
            <a:ext cx="3277191" cy="221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Compare average prices across regions and test significance of regional differences.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427716" y="2626519"/>
            <a:ext cx="3872808" cy="4373318"/>
            <a:chOff x="0" y="0"/>
            <a:chExt cx="5163744" cy="58310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5150993" cy="5818378"/>
            </a:xfrm>
            <a:custGeom>
              <a:avLst/>
              <a:gdLst/>
              <a:ahLst/>
              <a:cxnLst/>
              <a:rect r="r" b="b" t="t" l="l"/>
              <a:pathLst>
                <a:path h="5818378" w="5150993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4992243" y="0"/>
                  </a:lnTo>
                  <a:cubicBezTo>
                    <a:pt x="5079873" y="0"/>
                    <a:pt x="5150993" y="71120"/>
                    <a:pt x="5150993" y="158750"/>
                  </a:cubicBezTo>
                  <a:lnTo>
                    <a:pt x="5150993" y="5659628"/>
                  </a:lnTo>
                  <a:cubicBezTo>
                    <a:pt x="5150993" y="5747385"/>
                    <a:pt x="5079873" y="5818378"/>
                    <a:pt x="4992243" y="5818378"/>
                  </a:cubicBezTo>
                  <a:lnTo>
                    <a:pt x="158750" y="5818378"/>
                  </a:lnTo>
                  <a:cubicBezTo>
                    <a:pt x="71120" y="5818378"/>
                    <a:pt x="0" y="5747258"/>
                    <a:pt x="0" y="5659628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63693" cy="5831078"/>
            </a:xfrm>
            <a:custGeom>
              <a:avLst/>
              <a:gdLst/>
              <a:ahLst/>
              <a:cxnLst/>
              <a:rect r="r" b="b" t="t" l="l"/>
              <a:pathLst>
                <a:path h="5831078" w="5163693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4998593" y="0"/>
                  </a:lnTo>
                  <a:lnTo>
                    <a:pt x="4998593" y="6350"/>
                  </a:lnTo>
                  <a:lnTo>
                    <a:pt x="4998593" y="0"/>
                  </a:lnTo>
                  <a:cubicBezTo>
                    <a:pt x="5089779" y="0"/>
                    <a:pt x="5163693" y="73914"/>
                    <a:pt x="5163693" y="165100"/>
                  </a:cubicBezTo>
                  <a:lnTo>
                    <a:pt x="5157343" y="165100"/>
                  </a:lnTo>
                  <a:lnTo>
                    <a:pt x="5163693" y="165100"/>
                  </a:lnTo>
                  <a:lnTo>
                    <a:pt x="5163693" y="5665978"/>
                  </a:lnTo>
                  <a:lnTo>
                    <a:pt x="5157343" y="5665978"/>
                  </a:lnTo>
                  <a:lnTo>
                    <a:pt x="5163693" y="5665978"/>
                  </a:lnTo>
                  <a:cubicBezTo>
                    <a:pt x="5163693" y="5757164"/>
                    <a:pt x="5089779" y="5831078"/>
                    <a:pt x="4998593" y="5831078"/>
                  </a:cubicBezTo>
                  <a:lnTo>
                    <a:pt x="4998593" y="5824728"/>
                  </a:lnTo>
                  <a:lnTo>
                    <a:pt x="4998593" y="5831078"/>
                  </a:lnTo>
                  <a:lnTo>
                    <a:pt x="165100" y="5831078"/>
                  </a:lnTo>
                  <a:lnTo>
                    <a:pt x="165100" y="5824728"/>
                  </a:lnTo>
                  <a:lnTo>
                    <a:pt x="165100" y="5831078"/>
                  </a:lnTo>
                  <a:cubicBezTo>
                    <a:pt x="73914" y="5831078"/>
                    <a:pt x="0" y="5757164"/>
                    <a:pt x="0" y="56659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665978"/>
                  </a:lnTo>
                  <a:lnTo>
                    <a:pt x="6350" y="5665978"/>
                  </a:lnTo>
                  <a:lnTo>
                    <a:pt x="12700" y="5665978"/>
                  </a:lnTo>
                  <a:cubicBezTo>
                    <a:pt x="12700" y="5750179"/>
                    <a:pt x="80899" y="5818378"/>
                    <a:pt x="165100" y="5818378"/>
                  </a:cubicBezTo>
                  <a:lnTo>
                    <a:pt x="4998593" y="5818378"/>
                  </a:lnTo>
                  <a:cubicBezTo>
                    <a:pt x="5082794" y="5818378"/>
                    <a:pt x="5150993" y="5750179"/>
                    <a:pt x="5150993" y="5665978"/>
                  </a:cubicBezTo>
                  <a:lnTo>
                    <a:pt x="5150993" y="165100"/>
                  </a:lnTo>
                  <a:cubicBezTo>
                    <a:pt x="5150993" y="80899"/>
                    <a:pt x="5082794" y="12700"/>
                    <a:pt x="4998593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725525" y="2905277"/>
            <a:ext cx="3277191" cy="8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Time-series &amp; ML models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25525" y="3885009"/>
            <a:ext cx="3277191" cy="26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ARIMA/ETS for temporal structure and tree-based models (Random Forest, XGBoost) to capture nonlinearities.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7476" y="7273823"/>
            <a:ext cx="16313048" cy="1662265"/>
            <a:chOff x="0" y="0"/>
            <a:chExt cx="21750731" cy="22163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21738081" cy="2203577"/>
            </a:xfrm>
            <a:custGeom>
              <a:avLst/>
              <a:gdLst/>
              <a:ahLst/>
              <a:cxnLst/>
              <a:rect r="r" b="b" t="t" l="l"/>
              <a:pathLst>
                <a:path h="2203577" w="21738081">
                  <a:moveTo>
                    <a:pt x="0" y="158750"/>
                  </a:moveTo>
                  <a:cubicBezTo>
                    <a:pt x="0" y="71120"/>
                    <a:pt x="71501" y="0"/>
                    <a:pt x="159639" y="0"/>
                  </a:cubicBezTo>
                  <a:lnTo>
                    <a:pt x="21578443" y="0"/>
                  </a:lnTo>
                  <a:cubicBezTo>
                    <a:pt x="21666581" y="0"/>
                    <a:pt x="21738081" y="71120"/>
                    <a:pt x="21738081" y="158750"/>
                  </a:cubicBezTo>
                  <a:lnTo>
                    <a:pt x="21738081" y="2044827"/>
                  </a:lnTo>
                  <a:cubicBezTo>
                    <a:pt x="21738081" y="2132457"/>
                    <a:pt x="21666581" y="2203577"/>
                    <a:pt x="21578443" y="2203577"/>
                  </a:cubicBezTo>
                  <a:lnTo>
                    <a:pt x="159639" y="2203577"/>
                  </a:lnTo>
                  <a:cubicBezTo>
                    <a:pt x="71501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50781" cy="2216277"/>
            </a:xfrm>
            <a:custGeom>
              <a:avLst/>
              <a:gdLst/>
              <a:ahLst/>
              <a:cxnLst/>
              <a:rect r="r" b="b" t="t" l="l"/>
              <a:pathLst>
                <a:path h="2216277" w="21750781">
                  <a:moveTo>
                    <a:pt x="0" y="165100"/>
                  </a:moveTo>
                  <a:cubicBezTo>
                    <a:pt x="0" y="73914"/>
                    <a:pt x="74295" y="0"/>
                    <a:pt x="165989" y="0"/>
                  </a:cubicBezTo>
                  <a:lnTo>
                    <a:pt x="21584793" y="0"/>
                  </a:lnTo>
                  <a:lnTo>
                    <a:pt x="21584793" y="6350"/>
                  </a:lnTo>
                  <a:lnTo>
                    <a:pt x="21584793" y="0"/>
                  </a:lnTo>
                  <a:cubicBezTo>
                    <a:pt x="21676359" y="0"/>
                    <a:pt x="21750781" y="73914"/>
                    <a:pt x="21750781" y="165100"/>
                  </a:cubicBezTo>
                  <a:lnTo>
                    <a:pt x="21744431" y="165100"/>
                  </a:lnTo>
                  <a:lnTo>
                    <a:pt x="21750781" y="165100"/>
                  </a:lnTo>
                  <a:lnTo>
                    <a:pt x="21750781" y="2051177"/>
                  </a:lnTo>
                  <a:lnTo>
                    <a:pt x="21744431" y="2051177"/>
                  </a:lnTo>
                  <a:lnTo>
                    <a:pt x="21750781" y="2051177"/>
                  </a:lnTo>
                  <a:cubicBezTo>
                    <a:pt x="21750781" y="2142363"/>
                    <a:pt x="21676486" y="2216277"/>
                    <a:pt x="21584793" y="2216277"/>
                  </a:cubicBezTo>
                  <a:lnTo>
                    <a:pt x="21584793" y="2209927"/>
                  </a:lnTo>
                  <a:lnTo>
                    <a:pt x="21584793" y="2216277"/>
                  </a:lnTo>
                  <a:lnTo>
                    <a:pt x="165989" y="2216277"/>
                  </a:lnTo>
                  <a:lnTo>
                    <a:pt x="165989" y="2209927"/>
                  </a:lnTo>
                  <a:lnTo>
                    <a:pt x="165989" y="2216277"/>
                  </a:lnTo>
                  <a:cubicBezTo>
                    <a:pt x="74422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989" y="2203577"/>
                  </a:cubicBezTo>
                  <a:lnTo>
                    <a:pt x="21584793" y="2203577"/>
                  </a:lnTo>
                  <a:cubicBezTo>
                    <a:pt x="21669502" y="2203577"/>
                    <a:pt x="21738081" y="2135251"/>
                    <a:pt x="21738081" y="2051177"/>
                  </a:cubicBezTo>
                  <a:lnTo>
                    <a:pt x="21738081" y="165100"/>
                  </a:lnTo>
                  <a:cubicBezTo>
                    <a:pt x="21738081" y="80899"/>
                    <a:pt x="21669502" y="12700"/>
                    <a:pt x="21584793" y="12700"/>
                  </a:cubicBezTo>
                  <a:lnTo>
                    <a:pt x="165989" y="12700"/>
                  </a:lnTo>
                  <a:lnTo>
                    <a:pt x="165989" y="6350"/>
                  </a:lnTo>
                  <a:lnTo>
                    <a:pt x="165989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85284" y="7552582"/>
            <a:ext cx="3592170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Validation Strategy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5284" y="8089402"/>
            <a:ext cx="15717441" cy="42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Rolling-origin cross-validation, holdout by country/region, error metrics: RMSE, MAE, MAPE.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2570" t="0" r="-6257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356230" y="1503191"/>
            <a:ext cx="7698008" cy="948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4"/>
              </a:lnSpc>
            </a:pPr>
            <a:r>
              <a:rPr lang="en-US" sz="5986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Expected Outcomes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777" y="3719146"/>
            <a:ext cx="9727753" cy="3200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252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expect to </a:t>
            </a:r>
          </a:p>
          <a:p>
            <a:pPr algn="l">
              <a:lnSpc>
                <a:spcPts val="3667"/>
              </a:lnSpc>
            </a:pPr>
            <a:r>
              <a:rPr lang="en-US" sz="2252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(1) identify historical trends and structural shifts in fuel prices, </a:t>
            </a:r>
          </a:p>
          <a:p>
            <a:pPr algn="l">
              <a:lnSpc>
                <a:spcPts val="3667"/>
              </a:lnSpc>
            </a:pPr>
            <a:r>
              <a:rPr lang="en-US" sz="2252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(2) quantify regional differences and their statistical significance, and </a:t>
            </a:r>
          </a:p>
          <a:p>
            <a:pPr algn="l">
              <a:lnSpc>
                <a:spcPts val="3668"/>
              </a:lnSpc>
            </a:pPr>
            <a:r>
              <a:rPr lang="en-US" sz="2252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(3) produce a validated predictive model that forecasts prices given year and region inputs with transparent uncertainty estimates.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3777" y="8186936"/>
            <a:ext cx="9445523" cy="87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Deliverables: reproducible analysis notebook, model performance report, and a simple user-facing prediction tool.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14664" y="1000125"/>
            <a:ext cx="5490377" cy="79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073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Application 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6871044" cy="10287000"/>
            <a:chOff x="0" y="0"/>
            <a:chExt cx="9161392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443" cy="13715978"/>
            </a:xfrm>
            <a:custGeom>
              <a:avLst/>
              <a:gdLst/>
              <a:ahLst/>
              <a:cxnLst/>
              <a:rect r="r" b="b" t="t" l="l"/>
              <a:pathLst>
                <a:path h="13715978" w="9161443">
                  <a:moveTo>
                    <a:pt x="0" y="0"/>
                  </a:moveTo>
                  <a:lnTo>
                    <a:pt x="9161443" y="0"/>
                  </a:lnTo>
                  <a:lnTo>
                    <a:pt x="9161443" y="13715978"/>
                  </a:lnTo>
                  <a:lnTo>
                    <a:pt x="0" y="13715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355" t="0" r="-6235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056569" y="2674767"/>
            <a:ext cx="3643522" cy="49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3215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Prototype details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56569" y="3370520"/>
            <a:ext cx="6461284" cy="60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5519" indent="-202759" lvl="1">
              <a:lnSpc>
                <a:spcPts val="4379"/>
              </a:lnSpc>
              <a:buFont typeface="Arial"/>
              <a:buChar char="•"/>
            </a:pPr>
            <a:r>
              <a:rPr lang="en-US" sz="268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Language: Python</a:t>
            </a:r>
          </a:p>
          <a:p>
            <a:pPr algn="l" marL="405519" indent="-202759" lvl="1">
              <a:lnSpc>
                <a:spcPts val="4379"/>
              </a:lnSpc>
              <a:buFont typeface="Arial"/>
              <a:buChar char="•"/>
            </a:pPr>
            <a:r>
              <a:rPr lang="en-US" sz="268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Framework: Streamlit (or Flask for lightweight API)</a:t>
            </a:r>
          </a:p>
          <a:p>
            <a:pPr algn="l" marL="405519" indent="-202759" lvl="1">
              <a:lnSpc>
                <a:spcPts val="4379"/>
              </a:lnSpc>
              <a:buFont typeface="Arial"/>
              <a:buChar char="•"/>
            </a:pPr>
            <a:r>
              <a:rPr lang="en-US" sz="268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Inputs: Year, Region (optionally country)</a:t>
            </a:r>
          </a:p>
          <a:p>
            <a:pPr algn="l" marL="405519" indent="-202759" lvl="1">
              <a:lnSpc>
                <a:spcPts val="4379"/>
              </a:lnSpc>
              <a:buFont typeface="Arial"/>
              <a:buChar char="•"/>
            </a:pPr>
            <a:r>
              <a:rPr lang="en-US" sz="268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Output: Point prediction + confidence interval, brief explanatory note</a:t>
            </a:r>
          </a:p>
          <a:p>
            <a:pPr algn="l" marL="405519" indent="-202759" lvl="1">
              <a:lnSpc>
                <a:spcPts val="4379"/>
              </a:lnSpc>
              <a:buFont typeface="Arial"/>
              <a:buChar char="•"/>
            </a:pPr>
            <a:r>
              <a:rPr lang="en-US" sz="2688">
                <a:solidFill>
                  <a:srgbClr val="2A27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Extras: download CSV of predicted series, model performance summary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2359" t="0" r="-6235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247517" y="1000125"/>
            <a:ext cx="5334131" cy="80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5"/>
              </a:lnSpc>
            </a:pPr>
            <a:r>
              <a:rPr lang="en-US" sz="5101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Timeline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236600" y="3296927"/>
            <a:ext cx="11850007" cy="5332369"/>
            <a:chOff x="0" y="0"/>
            <a:chExt cx="15800009" cy="710982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5800009" cy="7109826"/>
              <a:chOff x="0" y="0"/>
              <a:chExt cx="12594031" cy="5667172"/>
            </a:xfrm>
          </p:grpSpPr>
          <p:sp>
            <p:nvSpPr>
              <p:cNvPr name="Freeform 9" id="9" descr="preencoded.png"/>
              <p:cNvSpPr/>
              <p:nvPr/>
            </p:nvSpPr>
            <p:spPr>
              <a:xfrm flipH="false" flipV="false" rot="0">
                <a:off x="0" y="0"/>
                <a:ext cx="12594082" cy="5667121"/>
              </a:xfrm>
              <a:custGeom>
                <a:avLst/>
                <a:gdLst/>
                <a:ahLst/>
                <a:cxnLst/>
                <a:rect r="r" b="b" t="t" l="l"/>
                <a:pathLst>
                  <a:path h="5667121" w="12594082">
                    <a:moveTo>
                      <a:pt x="0" y="0"/>
                    </a:moveTo>
                    <a:lnTo>
                      <a:pt x="12594082" y="0"/>
                    </a:lnTo>
                    <a:lnTo>
                      <a:pt x="12594082" y="5667121"/>
                    </a:lnTo>
                    <a:lnTo>
                      <a:pt x="0" y="566712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43" t="0" r="-43" b="0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3155479" y="276235"/>
              <a:ext cx="1214209" cy="406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9"/>
                </a:lnSpc>
              </a:pPr>
              <a:r>
                <a:rPr lang="en-US" sz="1960" b="true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380112" y="844096"/>
              <a:ext cx="2764941" cy="624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568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Topic selection and scope</a:t>
              </a:r>
            </a:p>
          </p:txBody>
        </p:sp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3463952" y="2232271"/>
              <a:ext cx="612431" cy="612431"/>
            </a:xfrm>
            <a:custGeom>
              <a:avLst/>
              <a:gdLst/>
              <a:ahLst/>
              <a:cxnLst/>
              <a:rect r="r" b="b" t="t" l="l"/>
              <a:pathLst>
                <a:path h="612431" w="612431">
                  <a:moveTo>
                    <a:pt x="0" y="0"/>
                  </a:moveTo>
                  <a:lnTo>
                    <a:pt x="612431" y="0"/>
                  </a:lnTo>
                  <a:lnTo>
                    <a:pt x="612431" y="612430"/>
                  </a:lnTo>
                  <a:lnTo>
                    <a:pt x="0" y="61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-3845" r="0" b="-384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841145" y="5608613"/>
              <a:ext cx="1327143" cy="406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9"/>
                </a:lnSpc>
              </a:pPr>
              <a:r>
                <a:rPr lang="en-US" sz="1960" b="true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114653" y="6176473"/>
              <a:ext cx="2780125" cy="624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568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 and literature review</a:t>
              </a:r>
            </a:p>
          </p:txBody>
        </p:sp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6198509" y="4465481"/>
              <a:ext cx="612431" cy="612431"/>
            </a:xfrm>
            <a:custGeom>
              <a:avLst/>
              <a:gdLst/>
              <a:ahLst/>
              <a:cxnLst/>
              <a:rect r="r" b="b" t="t" l="l"/>
              <a:pathLst>
                <a:path h="612431" w="612431">
                  <a:moveTo>
                    <a:pt x="0" y="0"/>
                  </a:moveTo>
                  <a:lnTo>
                    <a:pt x="612430" y="0"/>
                  </a:lnTo>
                  <a:lnTo>
                    <a:pt x="612430" y="612431"/>
                  </a:lnTo>
                  <a:lnTo>
                    <a:pt x="0" y="612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14103" r="0" b="-141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8286849" y="223067"/>
              <a:ext cx="1828895" cy="406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9"/>
                </a:lnSpc>
              </a:pPr>
              <a:r>
                <a:rPr lang="en-US" sz="1960" b="true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Weeks 3-4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818826" y="790928"/>
              <a:ext cx="2764941" cy="94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568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Exploratory analysis and baseline model</a:t>
              </a:r>
            </a:p>
          </p:txBody>
        </p:sp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8948250" y="2171502"/>
              <a:ext cx="612431" cy="612431"/>
            </a:xfrm>
            <a:custGeom>
              <a:avLst/>
              <a:gdLst/>
              <a:ahLst/>
              <a:cxnLst/>
              <a:rect r="r" b="b" t="t" l="l"/>
              <a:pathLst>
                <a:path h="612431" w="612431">
                  <a:moveTo>
                    <a:pt x="0" y="0"/>
                  </a:moveTo>
                  <a:lnTo>
                    <a:pt x="612431" y="0"/>
                  </a:lnTo>
                  <a:lnTo>
                    <a:pt x="612431" y="612431"/>
                  </a:lnTo>
                  <a:lnTo>
                    <a:pt x="0" y="612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6410" t="0" r="-641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1021843" y="5608613"/>
              <a:ext cx="1827990" cy="406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9"/>
                </a:lnSpc>
              </a:pPr>
              <a:r>
                <a:rPr lang="en-US" sz="1960" b="true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Weeks 5-8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553367" y="6176473"/>
              <a:ext cx="2764941" cy="624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568">
                  <a:solidFill>
                    <a:srgbClr val="2A27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Model validation, app, final report</a:t>
              </a:r>
            </a:p>
          </p:txBody>
        </p:sp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11637222" y="4465481"/>
              <a:ext cx="612431" cy="612431"/>
            </a:xfrm>
            <a:custGeom>
              <a:avLst/>
              <a:gdLst/>
              <a:ahLst/>
              <a:cxnLst/>
              <a:rect r="r" b="b" t="t" l="l"/>
              <a:pathLst>
                <a:path h="612431" w="612431">
                  <a:moveTo>
                    <a:pt x="0" y="0"/>
                  </a:moveTo>
                  <a:lnTo>
                    <a:pt x="612431" y="0"/>
                  </a:lnTo>
                  <a:lnTo>
                    <a:pt x="612431" y="612431"/>
                  </a:lnTo>
                  <a:lnTo>
                    <a:pt x="0" y="612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-38461" r="0" b="-3845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73600" y="4029697"/>
            <a:ext cx="9659338" cy="215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07"/>
              </a:lnSpc>
            </a:pPr>
            <a:r>
              <a:rPr lang="en-US" sz="13647" b="true">
                <a:solidFill>
                  <a:srgbClr val="23197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DAHFkcp0li8</dc:identifier>
  <dcterms:modified xsi:type="dcterms:W3CDTF">2011-08-01T06:04:30Z</dcterms:modified>
  <cp:revision>1</cp:revision>
  <dc:title>Exploring-Global-Fuel-Price-Trends-1970-2026.pptx</dc:title>
</cp:coreProperties>
</file>